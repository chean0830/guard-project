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c4e4f53f-6ff8-f0c0-3ec5-cd80b614c3aa}">
          <p14:sldIdLst>
            <p14:sldId id="256"/>
            <p14:sldId id="257"/>
          </p14:sldIdLst>
        </p14:section>
        <p14:section name="01 프로젝트 개요" id="{210ce4c3-3cfb-5256-0a16-cf3be75e65c8}">
          <p14:sldIdLst>
            <p14:sldId id="258"/>
            <p14:sldId id="259"/>
            <p14:sldId id="260"/>
            <p14:sldId id="261"/>
            <p14:sldId id="262"/>
          </p14:sldIdLst>
        </p14:section>
        <p14:section name="02 설계와 기술" id="{88a07baa-9f4b-afbe-c38e-529cbd7c4f48}">
          <p14:sldIdLst>
            <p14:sldId id="263"/>
            <p14:sldId id="264"/>
            <p14:sldId id="265"/>
            <p14:sldId id="266"/>
            <p14:sldId id="267"/>
          </p14:sldIdLst>
        </p14:section>
        <p14:section name="03 핵심 기능" id="{18e22851-35a3-b4d5-967f-3982cf093373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04 트러블슈팅" id="{c2bfdf96-2c22-01e5-e21e-1dbd484e867f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05 평가와 배포" id="{901d442e-3235-58af-fd6a-5e466e32c680}">
          <p14:sldIdLst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코드 줄 수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818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백엔드 (Spring)</c:v>
                  </c:pt>
                  <c:pt idx="1">
                    <c:v>앱 (Flutter)</c:v>
                  </c:pt>
                  <c:pt idx="2">
                    <c:v>웹 (Next.js)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11222</c:v>
                </c:pt>
                <c:pt idx="1">
                  <c:v>8617</c:v>
                </c:pt>
                <c:pt idx="2">
                  <c:v>8075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818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2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A5A6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6400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</a:t>
            </a:r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계약하기 전,</a:t>
            </a:r>
            <a:endParaRPr lang="en-US" sz="2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등기부등본부터 확인하세요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 PROJECT PORTFOLIO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등기부등본을 올리면 위험 신호를 근거와 함께 알려주는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전·월세 사기 예방 서비스 · Spring Boot · Next.js · Flutter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2026.09.22 – 10.15 개발 · 10.20 배포 · project-guard.duckdns.org   |   임채은 · 1인 풀스택 개발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715000" y="868680"/>
            <a:ext cx="2880360" cy="3063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10332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1197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3건을 찾았어요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79592" y="1581912"/>
            <a:ext cx="2551176" cy="548640"/>
          </a:xfrm>
          <a:prstGeom prst="roundRect">
            <a:avLst>
              <a:gd name="adj" fmla="val 10000"/>
            </a:avLst>
          </a:prstGeom>
          <a:solidFill>
            <a:srgbClr val="FCFCFD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69164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9320" y="16916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6464808" y="1673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선순위 채권 비율 84%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464808" y="1892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권고 기준 · 국토부/금감원 안내자료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879592" y="2240280"/>
            <a:ext cx="2551176" cy="548640"/>
          </a:xfrm>
          <a:prstGeom prst="roundRect">
            <a:avLst>
              <a:gd name="adj" fmla="val 10000"/>
            </a:avLst>
          </a:prstGeom>
          <a:solidFill>
            <a:srgbClr val="FCFCFD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235000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89320" y="23500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6464808" y="2331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주소 ≠ 등기부 주소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464808" y="25511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확인 · 등기부등본 표제부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5879592" y="2898648"/>
            <a:ext cx="2551176" cy="548640"/>
          </a:xfrm>
          <a:prstGeom prst="roundRect">
            <a:avLst>
              <a:gd name="adj" fmla="val 10000"/>
            </a:avLst>
          </a:prstGeom>
          <a:solidFill>
            <a:srgbClr val="FCFCFD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89320" y="3008376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89320" y="300837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6464808" y="29900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소액임차인 최우선변제 대상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6464808" y="32095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기준 · 주택임대차보호법 시행령</a:t>
            </a:r>
            <a:endParaRPr lang="en-US" sz="650" dirty="0"/>
          </a:p>
        </p:txBody>
      </p:sp>
      <p:sp>
        <p:nvSpPr>
          <p:cNvPr id="26" name="Text 23"/>
          <p:cNvSpPr txBox="1"/>
          <p:nvPr/>
        </p:nvSpPr>
        <p:spPr>
          <a:xfrm>
            <a:off x="5897880" y="36576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법률 조언이 아닌 참고용 정보입니다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A5A6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143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배경, 서비스 흐름, 개발 일정, 프로젝트 규모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618488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764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64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기술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764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스택, 시스템 아키텍처, 분석 파이프라인, 화면 구성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86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86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3865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판독, 위험 판단 엔진, 공공데이터, 상담·결제·보안·운영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862072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0083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08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0083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표 인식, 조용한 설정 실패, 환경변수 오염, DB 스키마, 결제 결과 불확실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630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평가와 배포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3630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성과, 운영 배포, 다음 단계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105656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6400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249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등기부등본을 대신 읽어주는 전·월세 사기 예방 서비스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154680"/>
            <a:ext cx="411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5A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A5A6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등기부등본은 받았는데,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위험한지 모릅니다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640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305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근저당·압류·말소 같은 용어가 어려워 위험 여부를 판단하기 힘듦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596896"/>
            <a:ext cx="640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5146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선순위 채권이 보증금보다 큰지 직접 계산하기 어려움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980944"/>
            <a:ext cx="640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8986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보증금이 시세보다 비싼지 비교할 기준을 찾기 어려움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처음 전·월세 계약을 하는 사회초년생·대학생이 가장 취약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097280"/>
            <a:ext cx="3337560" cy="2926080"/>
          </a:xfrm>
          <a:prstGeom prst="roundRect">
            <a:avLst>
              <a:gd name="adj" fmla="val 1875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GUARD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판독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서류를 대신 읽고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함께 알려주는 서비스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판독 → 공공데이터 대조 → 위험 신호 안내,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필요하면 승인된 변호사 상담까지 연결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0392" y="1207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270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 업로드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013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또는 촬영 이미지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장 업로드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2304288" y="1554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32888" y="105156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18872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71800" y="1207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2670048" y="15270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판독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670048" y="18013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PDFBox·Vision OCR로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내용 구조화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4425696" y="1554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654296" y="105156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18872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93208" y="1207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4791456" y="15270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대조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791456" y="18013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실거래가·건축물대장·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공시가격과 비교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6547104" y="1554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775704" y="105156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118872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14616" y="1207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6912864" y="15270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리포트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912864" y="18013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유형과 함께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카드·체크리스트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411480" y="2606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제공하는 기능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11480" y="2852928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017520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05840" y="29900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1:1 상담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1005840" y="32278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승인을 거친 변호사와 실시간 채팅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3218688" y="2852928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017520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813048" y="29900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체크리스트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3813048" y="32278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서류로 알 수 없는 확인 항목을 계약 형태별로 안내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6025896" y="2852928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3017520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620256" y="29900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웹·앱 동시 지원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6620256" y="32278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웹과 Flutter 앱이 같은 API를 사용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411480" y="40233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한 번으로 계약 전 확인 과정을 끝까지 연결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개요와 일정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136892" y="329184"/>
            <a:ext cx="1595628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6892" y="329184"/>
            <a:ext cx="1595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트렁크 기반 · PR 단위 개발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8321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07899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24일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481328"/>
            <a:ext cx="2080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2491740" y="107899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491740" y="1481328"/>
            <a:ext cx="2080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07899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15개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481328"/>
            <a:ext cx="2080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판단 규칙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652260" y="107899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336개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652260" y="1481328"/>
            <a:ext cx="2080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테스트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97280" y="2212848"/>
            <a:ext cx="6858000" cy="0"/>
          </a:xfrm>
          <a:prstGeom prst="line">
            <a:avLst/>
          </a:prstGeom>
          <a:noFill/>
          <a:ln w="25400">
            <a:solidFill>
              <a:srgbClr val="FED7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" y="2130552"/>
            <a:ext cx="164592" cy="164592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377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09.22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엔진 기반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Git·브랜치 전략 수립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PDFBox 등기부 파싱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판단 규칙 엔진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실거래가 시세 조회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386584" y="2130552"/>
            <a:ext cx="164592" cy="164592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28800" y="2377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09.29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서비스 완성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API·OCR 연동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건축물대장·e2e 테스트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로그인·소셜 로그인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승인·상담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58184" y="2130552"/>
            <a:ext cx="164592" cy="164592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0" y="2377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09.30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상담·결제·보안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신고·정지·차단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실시간 채팅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 결제·환불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인증·계정 잠금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129784" y="2130552"/>
            <a:ext cx="164592" cy="164592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2377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10.01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 앱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회원·변호사·관리자 앱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FCM 앱 푸시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PKCE 소셜 로그인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문의함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501384" y="2130552"/>
            <a:ext cx="164592" cy="164592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0" y="2377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10.02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94360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 확장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원룸·다가구 조건부 분석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 등기부 함께 분석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근린생활시설 감지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 반환보증 추정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872984" y="2130552"/>
            <a:ext cx="164592" cy="164592"/>
          </a:xfrm>
          <a:prstGeom prst="ellipse">
            <a:avLst/>
          </a:prstGeom>
          <a:solidFill>
            <a:srgbClr val="18181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0" y="2377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10.15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완료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결과 불확실 처리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이용권 선점·환원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해시 저장</a:t>
            </a:r>
            <a:endParaRPr lang="en-US" sz="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CI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41605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단위 feature 브랜치 → PR → main, 결정 사항 58건을 문서로 기록 · GitHub Actions CI로 자동 검사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규모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52360" y="32918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52360" y="3291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· 24일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66344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작성한 코드  약 2.8만 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17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코드 제외 · Java / TypeScript / Dart</a:t>
            </a:r>
            <a:endParaRPr lang="en-US" sz="7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691640"/>
          <a:ext cx="4389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303520" y="100584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11704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83개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15727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엔드포인트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040880" y="100584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40880" y="11704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18개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15727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엔티티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303520" y="2075688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0" y="2240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22개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6426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 (Next.js)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040880" y="2075688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40880" y="2240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25개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6426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화면 (Flutter)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303520" y="3145536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03520" y="33101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336개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303520" y="37124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테스트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040880" y="3145536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40880" y="33101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58건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37124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기록한 설계 결정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11480" y="4343400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343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336개 = 백엔드 307 · Playwright e2e 22 · Flutter 7 — GitHub Actions CI로 자동 실행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6400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기술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249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로직은 Spring 서버 한 곳에 — 웹과 앱은 같은 API를 사용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154680"/>
            <a:ext cx="411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5A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A5A6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965960" cy="35204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14813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6824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엔진 · API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94360" y="19659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965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368296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3682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4.1.1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4360" y="277063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7706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· Hibernate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4360" y="31729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1729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4360" y="357530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5753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 PDFBox 3.0.3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4360" y="397764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9776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→ MySQL 8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523744" y="1005840"/>
            <a:ext cx="1965960" cy="35204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14300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523744" y="14813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2523744" y="16824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서버 프록시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2706624" y="19659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706624" y="1965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16.4.0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706624" y="2368296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706624" y="23682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19.2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2706624" y="277063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706624" y="27706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 5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706624" y="31729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706624" y="31729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4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2706624" y="357530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2706624" y="35753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1.63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2706624" y="397764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706624" y="39776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CI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4636008" y="1005840"/>
            <a:ext cx="1965960" cy="35204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43000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4636008" y="14813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4636008" y="16824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· Android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4818888" y="19659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4818888" y="1965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 (Dart 3.13)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4818888" y="2368296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4818888" y="23682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FCM 앱 푸시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818888" y="277063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4818888" y="27706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Secure Storage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4818888" y="31729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818888" y="31729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 결제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4818888" y="357530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4818888" y="35753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PKCE 로그인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6748272" y="1005840"/>
            <a:ext cx="1965960" cy="35204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1143000"/>
            <a:ext cx="274320" cy="274320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6748272" y="14813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6748272" y="16824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</a:t>
            </a:r>
            <a:endParaRPr lang="en-US" sz="700" dirty="0"/>
          </a:p>
        </p:txBody>
      </p:sp>
      <p:sp>
        <p:nvSpPr>
          <p:cNvPr id="55" name="Shape 49"/>
          <p:cNvSpPr/>
          <p:nvPr/>
        </p:nvSpPr>
        <p:spPr>
          <a:xfrm>
            <a:off x="6931152" y="19659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6931152" y="1965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 Vision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6931152" y="2368296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931152" y="23682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국토부 실거래가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6931152" y="277063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931152" y="27706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건축물대장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6931152" y="31729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6931152" y="31729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도로명주소 · 브이월드</a:t>
            </a:r>
            <a:endParaRPr lang="en-US" sz="850" dirty="0"/>
          </a:p>
        </p:txBody>
      </p:sp>
      <p:sp>
        <p:nvSpPr>
          <p:cNvPr id="63" name="Shape 57"/>
          <p:cNvSpPr/>
          <p:nvPr/>
        </p:nvSpPr>
        <p:spPr>
          <a:xfrm>
            <a:off x="6931152" y="357530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6931152" y="35753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토스페이먼츠</a:t>
            </a:r>
            <a:endParaRPr lang="en-US" sz="850" dirty="0"/>
          </a:p>
        </p:txBody>
      </p:sp>
      <p:sp>
        <p:nvSpPr>
          <p:cNvPr id="65" name="Shape 59"/>
          <p:cNvSpPr/>
          <p:nvPr/>
        </p:nvSpPr>
        <p:spPr>
          <a:xfrm>
            <a:off x="6931152" y="397764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6931152" y="39776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구글·카카오·네이버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903720" y="329184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329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API 서버 · 멀티 클라이언트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070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Web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Action · Route Handler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httpOnly 세션 쿠키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288036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900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 App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· Android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Secure Storage · FCM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1417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REST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3200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· WS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212848" y="1600200"/>
            <a:ext cx="77724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12848" y="3383280"/>
            <a:ext cx="77724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17520" y="96012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1078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Backend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13167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25 · REST + WebSocket · 83개 API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182112" y="1627632"/>
            <a:ext cx="1371600" cy="1024128"/>
          </a:xfrm>
          <a:prstGeom prst="roundRect">
            <a:avLst>
              <a:gd name="adj" fmla="val 5357"/>
            </a:avLst>
          </a:prstGeom>
          <a:solidFill>
            <a:srgbClr val="232326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1737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엔진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1975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· risk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PDF/OCR 파싱 · 규칙 15개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63440" y="1627632"/>
            <a:ext cx="1371600" cy="1024128"/>
          </a:xfrm>
          <a:prstGeom prst="roundRect">
            <a:avLst>
              <a:gd name="adj" fmla="val 5357"/>
            </a:avLst>
          </a:prstGeom>
          <a:solidFill>
            <a:srgbClr val="232326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3168" y="1737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연동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773168" y="1975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4773168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· 건축물대장 · 공시가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82112" y="2798064"/>
            <a:ext cx="1371600" cy="1024128"/>
          </a:xfrm>
          <a:prstGeom prst="roundRect">
            <a:avLst>
              <a:gd name="adj" fmla="val 5357"/>
            </a:avLst>
          </a:prstGeom>
          <a:solidFill>
            <a:srgbClr val="232326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91840" y="2907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관리자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3145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· lawyer · admin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33649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토큰 · 인터셉터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663440" y="2798064"/>
            <a:ext cx="1371600" cy="1024128"/>
          </a:xfrm>
          <a:prstGeom prst="roundRect">
            <a:avLst>
              <a:gd name="adj" fmla="val 5357"/>
            </a:avLst>
          </a:prstGeom>
          <a:solidFill>
            <a:srgbClr val="232326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73168" y="2907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· 결제 · 알림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773168" y="3145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consultation · payment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4773168" y="33649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· Toss · Push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44768" y="1463040"/>
            <a:ext cx="548640" cy="0"/>
          </a:xfrm>
          <a:prstGeom prst="line">
            <a:avLst/>
          </a:prstGeom>
          <a:noFill/>
          <a:ln w="12700">
            <a:solidFill>
              <a:srgbClr val="8A8A9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144768" y="3017520"/>
            <a:ext cx="548640" cy="0"/>
          </a:xfrm>
          <a:prstGeom prst="line">
            <a:avLst/>
          </a:prstGeom>
          <a:noFill/>
          <a:ln w="12700">
            <a:solidFill>
              <a:srgbClr val="8A8A93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144768" y="1261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6144768" y="28163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RestClient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720840" y="109728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0" y="1207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→ MySQL 8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14447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 18개 · 파일 기반 개발 DB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MySQL · Flyway (AWS EC2)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720840" y="2148840"/>
            <a:ext cx="2011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0" y="2258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APIs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0" y="25146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 Vision (OCR)</a:t>
            </a:r>
            <a:endParaRPr lang="en-US" sz="7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국토부 실거래가 · 건축HUB</a:t>
            </a:r>
            <a:endParaRPr lang="en-US" sz="7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도로명주소 · 브이월드</a:t>
            </a:r>
            <a:endParaRPr lang="en-US" sz="7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토스페이먼츠</a:t>
            </a:r>
            <a:endParaRPr lang="en-US" sz="7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FCM · Web Push · SMTP</a:t>
            </a:r>
            <a:endParaRPr lang="en-US" sz="7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· Kakao · Naver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411480" y="43434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바뀌면 서버만 수정 — 웹·앱에 동시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분석 파이프라인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136892" y="329184"/>
            <a:ext cx="1595628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6892" y="329184"/>
            <a:ext cx="1595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/api/analyze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601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/api/analyze  </a:t>
            </a:r>
            <a:pPr indent="0" marL="0">
              <a:buNone/>
            </a:pPr>
            <a:r>
              <a:rPr lang="en-US" sz="800" dirty="0">
                <a:solidFill>
                  <a:srgbClr val="C4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multipart/form-data · files[] · address · deposit · monthlyRent · contractType · propertyType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1536192" cy="1554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50392" y="1618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93852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수신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21284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5장 · PDF 30쪽까지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Content-Type으로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판독 경로 분기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938528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112264" y="1463040"/>
            <a:ext cx="1536192" cy="1554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600200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51176" y="1618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2249424" y="193852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추출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2249424" y="221284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→ PDFBox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→ Vision OCR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결과 정규화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3639312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813048" y="1463040"/>
            <a:ext cx="1536192" cy="1554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600200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51960" y="1618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3950208" y="193852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파싱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3950208" y="221284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표제부·갑구·을구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근저당·압류·말소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종류 판별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5340096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5513832" y="1463040"/>
            <a:ext cx="1536192" cy="1554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600200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952744" y="1618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5650992" y="193852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조회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5650992" y="221284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→ 법정동코드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실거래가 시세 매칭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건축물대장·공시가격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7040880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7214616" y="1463040"/>
            <a:ext cx="1536192" cy="1554480"/>
          </a:xfrm>
          <a:prstGeom prst="roundRect">
            <a:avLst>
              <a:gd name="adj" fmla="val 3571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1600200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653528" y="1618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7351776" y="193852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판단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7351776" y="221284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15개 독립 평가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근거·심각도 포함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체크리스트·면책 문구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411480" y="32461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401568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78408" y="3401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비저장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978408" y="3657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파일은 메모리에서만 처리하고 분석이 끝나면 폐기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3218688" y="32461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401568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3785616" y="3401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격리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3785616" y="3657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API가 실패해도 빈 값으로 대체 — 시세가 없어도 등기부 분석은 성공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025896" y="32461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401568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592824" y="3401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우선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6592824" y="3657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신호에 출처를 붙이고 법률 조언이 아님을 응답에 포함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— 역할별 웹 · 앱 화면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47788" y="329184"/>
            <a:ext cx="1284732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47788" y="329184"/>
            <a:ext cx="12847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22개 · 앱 25개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2651760" cy="3310128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115568"/>
            <a:ext cx="384048" cy="38404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9786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69848" y="1115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69848" y="1335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분석부터 상담까지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6916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분석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892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· 분석 결과 · 체크리스트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2037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상담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404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문의 · 내 문의 내역 · 대화방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27157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직접 선택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29169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변호사 목록 · 이용권 결제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2278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내역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환불 · 환불 요청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739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39410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가입(이메일 인증) · 소셜 로그인 · 설정 · 탈퇴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18688" y="987552"/>
            <a:ext cx="2651760" cy="3310128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83280" y="1115568"/>
            <a:ext cx="384048" cy="38404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197864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877056" y="1115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3877056" y="1335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심사를 통과한 변호사만 이용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3401568" y="16916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3401568" y="1892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서류 제출 → 관리자 승인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3401568" y="22037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문의함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3401568" y="2404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배정된 상담 실시간 목록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3401568" y="27157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대화방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3401568" y="29169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 · 신고 · 차단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3401568" y="32278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메시지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3401568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운영자와 1:1 소통 · 안 읽음 표시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3401568" y="3739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3401568" y="39410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· 강점 · 알림 · 차단 관리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6025896" y="987552"/>
            <a:ext cx="2651760" cy="3310128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190488" y="1115568"/>
            <a:ext cx="384048" cy="38404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197864"/>
            <a:ext cx="219456" cy="219456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684264" y="1115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6684264" y="1335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 콘솔</a:t>
            </a:r>
            <a:endParaRPr lang="en-US" sz="750" dirty="0"/>
          </a:p>
        </p:txBody>
      </p:sp>
      <p:sp>
        <p:nvSpPr>
          <p:cNvPr id="42" name="Text 37"/>
          <p:cNvSpPr txBox="1"/>
          <p:nvPr/>
        </p:nvSpPr>
        <p:spPr>
          <a:xfrm>
            <a:off x="6208776" y="16916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심사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208776" y="1892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서류 확인 · 승인 · 거절 · 승인 취소</a:t>
            </a:r>
            <a:endParaRPr lang="en-US" sz="800" dirty="0"/>
          </a:p>
        </p:txBody>
      </p:sp>
      <p:sp>
        <p:nvSpPr>
          <p:cNvPr id="44" name="Text 39"/>
          <p:cNvSpPr txBox="1"/>
          <p:nvPr/>
        </p:nvSpPr>
        <p:spPr>
          <a:xfrm>
            <a:off x="6208776" y="22037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관리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208776" y="2404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원문 확인 · 이용 정지 · 기각</a:t>
            </a:r>
            <a:endParaRPr lang="en-US" sz="800" dirty="0"/>
          </a:p>
        </p:txBody>
      </p:sp>
      <p:sp>
        <p:nvSpPr>
          <p:cNvPr id="46" name="Text 41"/>
          <p:cNvSpPr txBox="1"/>
          <p:nvPr/>
        </p:nvSpPr>
        <p:spPr>
          <a:xfrm>
            <a:off x="6208776" y="27157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관리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6208776" y="29169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20명 단위 페이지 · 정지 해제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6208776" y="32278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관리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6208776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승인 · 거절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6208776" y="3739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메시지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6208776" y="39410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→ 변호사 1:1 안내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411480" y="4434840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548640" y="4434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기능을 웹(Next.js)과 앱(Flutter)에서 같은 API로 제공 — 앱은 카메라 촬영 업로드 · FCM 푸시 추가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6400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249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 판독 · 위험 판단 · 공공데이터 · 상담과 결제 · 운영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154680"/>
            <a:ext cx="411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5A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A5A6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자동 판독 — PDF와 촬영 이미지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281928" y="329184"/>
            <a:ext cx="2450592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81928" y="32918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PDFBox · Google Cloud Vision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332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325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원본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54533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인터넷등기소 발급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1856232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29968" y="12344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39696" y="1325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 PDFBox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139696" y="154533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Identity-H 한글 정상 추출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02736" y="12344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2464" y="1325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RegistryParser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712464" y="154533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갑구·을구 섹션 인식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말소 항목 매칭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1305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4231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이미지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264261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장 순서대로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1856232" y="2514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29968" y="233172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39696" y="24231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OCR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139696" y="264261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DOCUMENT_TEXT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2514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233172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12464" y="24231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정규화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712464" y="264261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병합 · 헤더 보정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스캔 보완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3364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표제부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3584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고유번호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종류 판별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029968" y="3291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39696" y="3364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갑구 · 소유권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139696" y="3584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소유자 이력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압류 · 가압류 · 경매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02736" y="3291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12464" y="3364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을구 · 소유권 외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712464" y="3584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근저당 채권최고액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근저당권자 · 말소 여부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257800" y="105156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13248" y="1143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결과 (RegistryAnalysis · 가상 데이터)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5413248" y="137160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"registryKind": "COLLECTIVE_BUILDING",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"ownershipHistory": [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"rank": 1, "ownerName": "김○○",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"cancelled": false } ],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"mortgages": [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"rank": 1, "maxClaimAmount": 240000000,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"mortgageeName": "○○농협",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"cancelled": true },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"rank": 2, "maxClaimAmount": 156000000,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"mortgageeName": "○○은행",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"cancelled": false } ],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"seizures": [],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"totalActiveMortgageAmount": 156000000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411480" y="43159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말소된 근저당은 합계에서 제외 → 실제 선순위 채권만 계산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판단 규칙 엔진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281928" y="329184"/>
            <a:ext cx="2450592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81928" y="32918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Strategy Pattern · Spring DI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206240" cy="3063240"/>
          </a:xfrm>
          <a:prstGeom prst="roundRect">
            <a:avLst>
              <a:gd name="adj" fmla="val 1791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143000"/>
            <a:ext cx="3977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RiskRule {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Optional&lt;RiskSignal&gt; evaluate(RiskAssessmentInput in);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RiskAssessmentService {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@Component 규칙 15개가 자동 주입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List&lt;RiskRule&gt; rules;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RiskAssessmentResult assess(RiskAssessmentInput in) {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RiskAssessmentResult(rules.stream()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.map(rule -&gt; rule.evaluate(in))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.flatMap(Optional::stream)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.toList());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024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추가 = 클래스 하나 추가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298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코드를 고치지 않고 규칙만 늘리는 구조(OCP). 각 규칙은 입력만 받아 독립적으로 평가하므로 규칙별 단위 테스트가 쉬움.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유형 3단계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221284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2128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확인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687568" y="22128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등기부·건축물대장 기록 그대로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2542032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5420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기준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87568" y="2542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주택임대차보호법 시행령 등 법령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92040" y="2871216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8712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권고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687568" y="28712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HUG·국토부 기준, 구속력 없음 명시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291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56616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5661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위험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62472" y="356616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62472" y="35661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CAUTION 주의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232904" y="356616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32904" y="35661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 안내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42976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RiskSignal(code, title, severity, source, sourceDescription, detail) — 카드 1장 = 신호 1개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판단 기준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70064" y="329184"/>
            <a:ext cx="1362456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70064" y="32918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· 출처를 함께 표시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9651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161288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" y="11612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권고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1430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선순위 채권 비율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1612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/ CAUTION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76072" y="1481328"/>
            <a:ext cx="376732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14813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(활성 근저당 + 보증금) ÷ 시세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이상 위험 · 70% 이상 주의 — 말소된 근저당은 제외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36008" y="1005840"/>
            <a:ext cx="409651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161288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1612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권고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550408" y="11430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전세가율 · 월세 환산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11612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/ CAUTION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00600" y="1481328"/>
            <a:ext cx="376732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14813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보증금 + 월세 × 12 ÷ 전환율 5%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대비 90% 이상 위험 · 80% 이상 주의 (주임법 시행령 제9조 전환율)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542032"/>
            <a:ext cx="409651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" y="2697480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" y="26974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확인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26791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침해 기록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26974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/ CAUTION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" y="3017520"/>
            <a:ext cx="376732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30175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미말소 압류·가압류·경매 / 소유자 ≠ 임대인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456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없이 기록 그대로 위험 표시 — 주소 불일치는 오탐을 고려해 주의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36008" y="2542032"/>
            <a:ext cx="409651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697480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26974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기준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5550408" y="26791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소액임차인 최우선변제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562088" y="26974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00600" y="3017520"/>
            <a:ext cx="376732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92040" y="30175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보증금 ≤ 지역별 상한 → 우선 변제 대상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818888" y="3456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1.65억 이하 시 5,500만 원까지 (주임법 시행령 제10~11조)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1148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외 근린생활시설 원룸 · 위반건축물 · 부동산 유형 불일치 · 토지 등기부 · 다가구 전용 규칙까지 총 15개 규칙, 위험 신호 17종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연동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748272" y="329184"/>
            <a:ext cx="1984248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48272" y="32918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RestClient · 공공 API 5종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51790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1155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입력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37160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도로명주소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12264" y="1005840"/>
            <a:ext cx="151790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12264" y="11155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juso.go.kr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112264" y="137160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법정동코드 admCd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3048" y="1005840"/>
            <a:ext cx="151790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13048" y="11155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LAWD_CD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137160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admCd 앞 5자리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5321808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13832" y="1005840"/>
            <a:ext cx="151790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13832" y="11155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실거래가 API ×3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513832" y="137160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아파트·오피스텔·연립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14616" y="1005840"/>
            <a:ext cx="1517904" cy="777240"/>
          </a:xfrm>
          <a:prstGeom prst="roundRect">
            <a:avLst>
              <a:gd name="adj" fmla="val 7059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14616" y="11155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매칭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214616" y="137160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단지명 + 면적 ±3㎡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11480" y="201168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176272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960120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AbstractTradeClient 공통화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76072" y="26060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API는 응답 구조가 같고 건물명 필드만 다름 (aptNm · offiNm · mhouseNm). 호출 로직을 추상 클래스로 묶고 각 클라이언트는 엔드포인트와 필드명만 정의.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218688" y="201168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176272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3767328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 층별 용도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3383280" y="26060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표제부 + 층별개요 조회. 이름이 아닌 용도 코드(03·04 = 근린생활시설)로 판별해 상가를 개조한 '근생 원룸'을 감지.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6025896" y="201168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176272"/>
            <a:ext cx="274320" cy="27432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574536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 기준값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6190488" y="26060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브이월드 개별주택가격을 PNU(법정동 10 + 대지구분 1 + 본번 4 + 부번 4)로 조회. 시세를 알 수 없는 다가구의 보수적 기준으로 사용.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411480" y="4133088"/>
            <a:ext cx="8321040" cy="365760"/>
          </a:xfrm>
          <a:prstGeom prst="roundRect">
            <a:avLst>
              <a:gd name="adj" fmla="val 15000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격리 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RestClientException → 빈 값으로 대체 — 부가 조회가 실패해도 등기부 분석은 항상 성공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원룸 · 다가구 조건부 분석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292340" y="329184"/>
            <a:ext cx="1440180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92340" y="329184"/>
            <a:ext cx="14401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 + 보수적 계산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51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등기부만으로 알 수 없는 집은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'안전' 판정을 내리지 않습니다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2011680"/>
            <a:ext cx="640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다가구는 건물 전체에 등기부가 하나 — 먼저 들어온 세입자 보증금이 등기부에 없음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514600"/>
            <a:ext cx="640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선순위 보증금을 사용자가 입력하고, 확인 출처(서류 / 임대인 말 / 모름)도 함께 받음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" y="3017520"/>
            <a:ext cx="640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서류로 확인하지 않았다면 계산 결과와 상관없이 위험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3520440"/>
            <a:ext cx="640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건물·토지 공동담보는 접수일·채권최고액·근저당권자가 같으면 한 번만 계산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100584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115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다가구 선순위 비율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근저당 (건물 + 토지에만 있는 것)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먼저 들어온 세입자 보증금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소액임차인 최우선변제 추정액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내 보증금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2487168"/>
            <a:ext cx="3246120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2560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 기준 가격 (입력 시세, 없으면 공시가격)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0" y="29718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80%↑ 위험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400800" y="29718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70%↑ 주의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498080" y="29718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0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조건부 주의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 반환보증 가입 가능성도 추정 — 공시가격 × 140%, 근저당 60% · 선순위 80% · 전체 90% 기준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상담 · 실시간 채팅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437376" y="329184"/>
            <a:ext cx="2295144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37376" y="32918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· Web Push · FCM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0789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가입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316736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서류 제출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(파일 시그니처 검사)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1655064" y="12984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10512" y="100584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01952" y="10789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승인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901952" y="1316736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 → APPROVED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12984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9544" y="100584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00984" y="10789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00984" y="1316736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랜덤 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직접 선택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12984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08576" y="100584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0016" y="10789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채팅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700016" y="1316736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대화 · 신고 · 차단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99632" y="1115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메시지가 상대 화면에 표시되기까지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199632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4.5초 → 0.3초</a:t>
            </a:r>
            <a:endParaRPr lang="en-US" sz="250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폴링 → WebSocket 전환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22128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전송은 HTTP 그대로 두고, 저장 시 이벤트를 발행해 같은 대화방에 연결된 화면으로 즉시 전달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2011680"/>
            <a:ext cx="546811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인증 — 1회용 입장권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2395728"/>
            <a:ext cx="1170432" cy="50292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243230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263347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접근 불가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892808" y="2395728"/>
            <a:ext cx="1170432" cy="50292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92808" y="243230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서버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92808" y="263347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httpOnly 쿠키 인증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18688" y="2395728"/>
            <a:ext cx="1170432" cy="50292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18688" y="243230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3218688" y="263347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60초 1회용 티켓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44568" y="2395728"/>
            <a:ext cx="1170432" cy="50292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44568" y="243230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wss 연결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44568" y="263347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티켓으로만 입장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292608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Origin 제한 · 끊기면 지수 백오프로 재연결 · 30초 주기 조회를 안전망으로 유지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11480" y="32918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438144"/>
            <a:ext cx="256032" cy="256032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941832" y="3438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· 이용 정지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576072" y="37673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 2가지(욕설·모욕 / 금전 요구)만 접수, 정지 시 기존 세션까지 즉시 무효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3218688" y="32918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438144"/>
            <a:ext cx="256032" cy="256032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3749040" y="3438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차단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3383280" y="37673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관계면 양쪽 모두 메시지 불가, 매칭·목록에서도 서로 제외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6025896" y="32918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3438144"/>
            <a:ext cx="256032" cy="256032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6556248" y="3438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3채널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6190488" y="37673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· 웹 푸시(VAPID) · 앱 푸시(FCM), 발송이 실패해도 상담은 성공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— 금액은 항상 서버가 결정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47788" y="329184"/>
            <a:ext cx="1284732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47788" y="329184"/>
            <a:ext cx="12847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51790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" y="1097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39496" y="1298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39496" y="15727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상품별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결정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12264" y="1005840"/>
            <a:ext cx="151790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1097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1298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 결제창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15727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결제 진행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3048" y="1005840"/>
            <a:ext cx="1517904" cy="1188720"/>
          </a:xfrm>
          <a:prstGeom prst="roundRect">
            <a:avLst>
              <a:gd name="adj" fmla="val 4615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41064" y="1097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941064" y="1298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검증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41064" y="15727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돌아온 금액 ≠ 주문 금액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승인 요청 안 함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13832" y="1005840"/>
            <a:ext cx="151790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41848" y="1097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1298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승인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15727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Idempotency-Key = 주문번호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초과·5xx는 결과 불확실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14616" y="1005840"/>
            <a:ext cx="151790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42632" y="1097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342632" y="1298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이용권 사용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342632" y="15727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시작 시 선점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실패하면 환원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11480" y="2395728"/>
            <a:ext cx="409651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42032"/>
            <a:ext cx="256032" cy="25603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960120" y="2551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구조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12648" y="2971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분석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187452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아이디당 무료 5회 → 이후 990원 / 회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12648" y="3410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직접 선택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1874520" y="3410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2,900원 / 회 · 강점 프로필 비교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612648" y="3849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횟수 기준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874520" y="38496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해시 — 재가입해도 유지, 실패 시 환원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636008" y="2395728"/>
            <a:ext cx="409651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542032"/>
            <a:ext cx="256032" cy="25603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184648" y="2551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환불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4837176" y="2971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이용권</a:t>
            </a:r>
            <a:endParaRPr lang="en-US" sz="850" dirty="0"/>
          </a:p>
        </p:txBody>
      </p:sp>
      <p:sp>
        <p:nvSpPr>
          <p:cNvPr id="44" name="Text 40"/>
          <p:cNvSpPr txBox="1"/>
          <p:nvPr/>
        </p:nvSpPr>
        <p:spPr>
          <a:xfrm>
            <a:off x="6099048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 취소 API로 바로 환불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4837176" y="3410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이용권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6099048" y="3410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요청 → 관리자 승인 후 취소</a:t>
            </a:r>
            <a:endParaRPr lang="en-US" sz="850" dirty="0"/>
          </a:p>
        </p:txBody>
      </p:sp>
      <p:sp>
        <p:nvSpPr>
          <p:cNvPr id="47" name="Text 43"/>
          <p:cNvSpPr txBox="1"/>
          <p:nvPr/>
        </p:nvSpPr>
        <p:spPr>
          <a:xfrm>
            <a:off x="4837176" y="3849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제어</a:t>
            </a:r>
            <a:endParaRPr lang="en-US" sz="850" dirty="0"/>
          </a:p>
        </p:txBody>
      </p:sp>
      <p:sp>
        <p:nvSpPr>
          <p:cNvPr id="48" name="Text 44"/>
          <p:cNvSpPr txBox="1"/>
          <p:nvPr/>
        </p:nvSpPr>
        <p:spPr>
          <a:xfrm>
            <a:off x="6099048" y="38496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비관적 잠금 · 이용권 선점으로 중복 사용 차단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인증과 보안 설계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059168" y="329184"/>
            <a:ext cx="1673352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59168" y="32918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개인정보를 다루는 서비스의 기본기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170432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527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1225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토큰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6642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불투명 랜덤 토큰, DB엔 SHA-256 해시만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로그아웃·정지 시 즉시 무효화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서버 규모라 JWT 대신 선택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18688" y="100584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170432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25272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858768" y="1225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보호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401568" y="16642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 해시 · 5회 오류 시 잠금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이메일 6자리 인증 · 대소문자 통일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재설정 토큰은 SHA-256 해시만 저장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025896" y="100584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90488" y="1170432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25272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65976" y="1225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208776" y="16642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nonce로 CSRF 방지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인증된 계정만 연동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경로 리다이렉트 차단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11480" y="269748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6072" y="2862072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4436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51560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로그인 PKCE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94360" y="33558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앱은 verifier, 웹엔 challenge만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 · 1회용 코드로 토큰 교환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스킴 가로채기 대응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3218688" y="269748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383280" y="2862072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2944368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858768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· 파일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3401568" y="33558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원본 디스크 비저장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서류는 파일 시그니처 검사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키는 .env로 분리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6025896" y="269748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190488" y="2862072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944368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665976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보안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6208776" y="33558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헤더 · secure 쿠키 · H2 콘솔 차단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보안 패치, 운영 의존성 audit 0건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환경변수 유입 차단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관리자 기능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214616" y="329184"/>
            <a:ext cx="1517904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14616" y="32918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서비스를 위한 운영 장치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4096512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152144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3444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69848" y="1133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심사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69848" y="1389888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서류(PDF·JPG) 확인 후 승인 · 거절. 승인 취소 시 승인 대기로 되돌리고 로그인 세션 즉시 종료, 매칭 목록에서 제외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36008" y="987552"/>
            <a:ext cx="4096512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1152144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23444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4376" y="1133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· 이용 정지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294376" y="1389888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원문을 보고 정지 또는 기각. 정지 즉시 세션 차단, 정지된 변호사는 매칭에서 제외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11480" y="2084832"/>
            <a:ext cx="4096512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6072" y="2249424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3172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69848" y="2231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→ 변호사 1:1 메시지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069848" y="2487168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안내를 변호사 알림함으로 전달 — 안 읽음 뱃지와 앱 푸시까지 웹·앱 공통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636008" y="2084832"/>
            <a:ext cx="4096512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00600" y="2249424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331720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294376" y="2231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관리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294376" y="2487168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이용권 환불 요청을 관리자가 승인 · 거절. 회원·변호사 목록은 20명 단위 서버 검색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411480" y="3182112"/>
            <a:ext cx="4096512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76072" y="3346704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29000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69848" y="3328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남용 방지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069848" y="3584448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시도 하루 20회 · 업로드 5장/PDF 30쪽 · 상담 메시지 2000자 · 인증번호 10분·5회 · 비밀번호 5회 오류 잠금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4636008" y="3182112"/>
            <a:ext cx="4096512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800600" y="3346704"/>
            <a:ext cx="365760" cy="36576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429000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294376" y="3328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정리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5294376" y="3584448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새벽 4시 만료된 세션·인증 기록 정리 — 누적 무료 횟수는 지우지 않도록 테스트로 고정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411480" y="43434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콘솔은 웹 /admin과 앱 하단 탭 콘솔에서 같은 API로 동작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웹과 앱 — 하나의 API, 두 개의 클라이언트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903720" y="329184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329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 · Flutter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6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29000"/>
                <a:gridCol w="3429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 · Next.js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Flutter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보관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httpOnly 쿠키 + Server Action 프록시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Secure Storage + Bearer 토큰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소셜 로그인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 Handler에서 OAuth 처리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로그인 재사용 (Custom Tabs) + PKCE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WebSocket 1회용 입장권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입장권 방식 공유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 Push (VAPID · Service Worker)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FCM (HTTP v1 직접 호출)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서류 업로드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선택 · 여러 장 업로드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촬영 · 갤러리 ·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토스 결제창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 WebView로 토스 결제창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/admin 4개 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하단 탭 관리자 콘솔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148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 다르고 분석 · 인증 · 결제 로직은 Spring 서버에서 공통 처리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6400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249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표 인식, 조용한 설정 실패, 환경변수 오염, DB 스키마, 결제 결과 불확실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154680"/>
            <a:ext cx="411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5A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A5A6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이미지에서 등기부 항목이 비어 나옴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92824" y="329184"/>
            <a:ext cx="2139696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2824" y="32918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 Vision · 파서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4페이지를 촬영 이미지로 올리면 갑구·을구 항목이 빈 배열로 반환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OCR은 표를 셀 단위로 쪼갬 — 【갑 구】 헤더가 여러 줄로 나뉘고, 순위번호와 등기목적이 다른 줄로 분리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54296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18888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부제(소유권에 관한 사항)를 보조 헤더로 사용, 순위번호 단독 줄 병합, 채무자·근저당권자 전체 스캔 보완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75704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0296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문서의 PDF 결과와 동일하게 추출 — OCR 전용 정규화라 PDF 경로 회귀 없음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03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엔진별 출력 차이를 파서 앞 정규화 단계에서 흡수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기반 규칙이 한 번도 발동하지 않음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748272" y="329184"/>
            <a:ext cx="1984248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48272" y="32918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4 · dotenv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조회가 항상 null — 예외도 로그도 없어 테스트 DB에 데이터가 없는 줄로 오인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spring-dotenv 4.0.0의 리스너가 Spring Boot 4에서 호출되지 않아 모든 API 키가 빈 문자열로 주입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54296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18888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dotenv-java로 main()에서 .env를 직접 읽어 System 프로퍼티로 등록 (Environment 최우선 순위)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75704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0296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시세(5.3억 원) 조회 확인, 선순위 채권·전세가율 규칙 정상 동작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03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없는 실패는 초기화 로그와 jar 단독 실행으로 원인을 좁혀 해결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등록 API가 매번 3–5초 지연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52360" y="32918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52360" y="3291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 격리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 상담 문의 등록 요청이 매번 3–5초씩 걸림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환경변수에 남아 있던 다른 프로젝트의 메일 계정을 설정 기본값 문법이 그대로 읽어 실제 SMTP 인증을 시도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54296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18888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키는 .env 파일에 명시된 값만 허용, 없으면 빈 값으로 강제 — 웹 프론트에도 같은 원칙 적용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75704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0296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70ms대로 단축, 소셜 로그인이 다른 앱으로 연결되던 문제도 같은 방식으로 해결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03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설정의 출처를 하나로 고정해 개발 PC 환경에 따라 동작이 바뀌지 않게 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결제 관리 탭 500 오류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52360" y="32918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52360" y="3291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· H2 스키마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요청 · 결제 취소 탭이 조회만 해도 500 오류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H2가 @Enumerated 컬럼을 생성 당시 값의 ENUM 타입으로 고정 — 나중에 추가한 REFUNDED 등을 거부. 테스트는 매번 새 DB라 놓침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54296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18888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 컬럼 9개를 varchar(30)으로 정의, ddl-auto가 기존 DB 타입을 변환하는 것을 복사본 DB로 확인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75704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0296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EnumColumnTypeTest로 ENUM 타입 컬럼이 생기면 테스트 실패 — 재발 방지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03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개발 DB의 차이를 확인하고, 같은 실수를 테스트로 고정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승인 결과를 알 수 없을 때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981444" y="329184"/>
            <a:ext cx="1751076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81444" y="329184"/>
            <a:ext cx="1751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· 멱등키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 승인 요청이 시간 초과·5xx로 끝나면 돈이 빠져나갔을 수 있는데, 주문을 FAILED로 굳혀 재시도가 막힘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거절이 확실한 응답(4xx)과 결과를 알 수 없는 응답을 구분하지 않고 모든 오류를 실패로 처리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54296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18888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4xx만 실패, 나머지는 결과 불확실로 주문을 READY 유지 — 같은 주문으로 재승인(멱등키), '이미 처리됨' 응답은 결제 조회로 상태·주문번호·금액 확인 후 성공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75704" y="1097280"/>
            <a:ext cx="1965960" cy="2331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0296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160020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결제 없이 재시도 가능, 토스 테스트 키로 오류·조회 응답 형식 확인 — 이용권도 시작 시 선점·실패 시 환원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03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돈이 오가는 흐름은 '실패'와 '모름'을 구분해 설계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6400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평가와 배포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249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성과, 운영 배포, 다음 단계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154680"/>
            <a:ext cx="411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5A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A5A6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평가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07899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4813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개발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2075688" y="107899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24일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075688" y="14813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3739896" y="107899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2.8만 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39896" y="14813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작성한 코드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404104" y="107899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336개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04104" y="14813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테스트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7068312" y="107899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58건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068312" y="14813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기록한 설계 결정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등기부 판독부터 위험 신호, 변호사 상담, 결제, 관리자 운영까지 웹·앱으로 이어지는 서비스를 혼자 완성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엔진(15개) · 공공 API 5종 연동 · WebSocket · PKCE · 토스 결제를 직접 설계하고 테스트 336개 · CI로 검증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없이 단정하지 않기 — 모든 신호에 출처를 달고, 확인할 수 없는 집은 '안전' 판정을 보류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도구(Claude Code)로 구현 속도를 높이고, 설계 결정 · 원인 분석 · 검증은 직접 — 결정 58건을 문서로 남김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배포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15100" y="329184"/>
            <a:ext cx="2217420" cy="219456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FFE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15100" y="32918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10.20 AWS 배포 · 운영 중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69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41832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배포하며 찾아 고친 것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15727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운영 DB에서 시작 실패 → Flyway 마이그레이션 도입,</a:t>
            </a:r>
            <a:b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MySQL로 스키마 검증 테스트</a:t>
            </a:r>
            <a:endParaRPr lang="en-US" sz="83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21031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1MB 넘는 업로드 실패(Server Action 한도) →</a:t>
            </a:r>
            <a:b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1회용 입장권으로 브라우저가 백엔드에 직접 업로드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26334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263347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서버의 환경변수가 빈 값으로 덮임 →</a:t>
            </a:r>
            <a:b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APP_ENV=production에서만 서버 값 사용</a:t>
            </a:r>
            <a:endParaRPr lang="en-US" sz="830" dirty="0"/>
          </a:p>
        </p:txBody>
      </p:sp>
      <p:sp>
        <p:nvSpPr>
          <p:cNvPr id="16" name="Text 13"/>
          <p:cNvSpPr txBox="1"/>
          <p:nvPr/>
        </p:nvSpPr>
        <p:spPr>
          <a:xfrm>
            <a:off x="621792" y="31638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316382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예약어(read) 컬럼 · 인덱스 길이 초과 →</a:t>
            </a:r>
            <a:b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예약어 자동 인용 · ascii 컬럼으로 해결</a:t>
            </a:r>
            <a:endParaRPr lang="en-US" sz="83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3694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369417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 뒤에서 로그인 후 localhost로 이동 →</a:t>
            </a:r>
            <a:b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3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주소 기준으로 리다이렉트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663440" y="1005840"/>
            <a:ext cx="4069080" cy="3291840"/>
          </a:xfrm>
          <a:prstGeom prst="roundRect">
            <a:avLst>
              <a:gd name="adj" fmla="val 1667"/>
            </a:avLst>
          </a:prstGeom>
          <a:solidFill>
            <a:srgbClr val="18181A"/>
          </a:solidFill>
          <a:ln w="9525">
            <a:solidFill>
              <a:srgbClr val="18181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70432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193792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구성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846320" y="1591056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232326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846320" y="15910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750" dirty="0"/>
          </a:p>
        </p:txBody>
      </p:sp>
      <p:sp>
        <p:nvSpPr>
          <p:cNvPr id="25" name="Text 21"/>
          <p:cNvSpPr txBox="1"/>
          <p:nvPr/>
        </p:nvSpPr>
        <p:spPr>
          <a:xfrm>
            <a:off x="5468112" y="157276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EC2(t4g.small) 한 대에 웹·백엔드·MySQL, Caddy 자동 HTTPS</a:t>
            </a:r>
            <a:endParaRPr lang="en-US" sz="830" dirty="0"/>
          </a:p>
        </p:txBody>
      </p:sp>
      <p:sp>
        <p:nvSpPr>
          <p:cNvPr id="26" name="Shape 22"/>
          <p:cNvSpPr/>
          <p:nvPr/>
        </p:nvSpPr>
        <p:spPr>
          <a:xfrm>
            <a:off x="4846320" y="212140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232326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46320" y="2121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750" dirty="0"/>
          </a:p>
        </p:txBody>
      </p:sp>
      <p:sp>
        <p:nvSpPr>
          <p:cNvPr id="28" name="Text 24"/>
          <p:cNvSpPr txBox="1"/>
          <p:nvPr/>
        </p:nvSpPr>
        <p:spPr>
          <a:xfrm>
            <a:off x="5468112" y="210312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8.0 · Flyway(validate) · 매일 자동 백업 14일 보관</a:t>
            </a:r>
            <a:endParaRPr lang="en-US" sz="830" dirty="0"/>
          </a:p>
        </p:txBody>
      </p:sp>
      <p:sp>
        <p:nvSpPr>
          <p:cNvPr id="29" name="Shape 25"/>
          <p:cNvSpPr/>
          <p:nvPr/>
        </p:nvSpPr>
        <p:spPr>
          <a:xfrm>
            <a:off x="4846320" y="265176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232326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846320" y="26517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750" dirty="0"/>
          </a:p>
        </p:txBody>
      </p:sp>
      <p:sp>
        <p:nvSpPr>
          <p:cNvPr id="31" name="Text 27"/>
          <p:cNvSpPr txBox="1"/>
          <p:nvPr/>
        </p:nvSpPr>
        <p:spPr>
          <a:xfrm>
            <a:off x="5468112" y="263347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project-guard.duckdns.org (API는 api. 하위 주소)</a:t>
            </a:r>
            <a:endParaRPr lang="en-US" sz="830" dirty="0"/>
          </a:p>
        </p:txBody>
      </p:sp>
      <p:sp>
        <p:nvSpPr>
          <p:cNvPr id="32" name="Shape 28"/>
          <p:cNvSpPr/>
          <p:nvPr/>
        </p:nvSpPr>
        <p:spPr>
          <a:xfrm>
            <a:off x="4846320" y="3182112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232326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46320" y="31821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750" dirty="0"/>
          </a:p>
        </p:txBody>
      </p:sp>
      <p:sp>
        <p:nvSpPr>
          <p:cNvPr id="34" name="Text 30"/>
          <p:cNvSpPr txBox="1"/>
          <p:nvPr/>
        </p:nvSpPr>
        <p:spPr>
          <a:xfrm>
            <a:off x="5468112" y="316382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CI(테스트 336개) →</a:t>
            </a:r>
            <a:b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배포 스크립트(release.sh)</a:t>
            </a:r>
            <a:endParaRPr lang="en-US" sz="830" dirty="0"/>
          </a:p>
        </p:txBody>
      </p:sp>
      <p:sp>
        <p:nvSpPr>
          <p:cNvPr id="35" name="Shape 31"/>
          <p:cNvSpPr/>
          <p:nvPr/>
        </p:nvSpPr>
        <p:spPr>
          <a:xfrm>
            <a:off x="4846320" y="3712464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232326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846320" y="37124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</a:t>
            </a:r>
            <a:endParaRPr lang="en-US" sz="750" dirty="0"/>
          </a:p>
        </p:txBody>
      </p:sp>
      <p:sp>
        <p:nvSpPr>
          <p:cNvPr id="37" name="Text 33"/>
          <p:cNvSpPr txBox="1"/>
          <p:nvPr/>
        </p:nvSpPr>
        <p:spPr>
          <a:xfrm>
            <a:off x="5468112" y="369417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a@naver.com · 변호사 aa@naver.com</a:t>
            </a:r>
            <a:b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3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aaa@naver.com · 비밀번호 모두 12345678</a:t>
            </a:r>
            <a:endParaRPr lang="en-US" sz="830" dirty="0"/>
          </a:p>
        </p:txBody>
      </p:sp>
      <p:sp>
        <p:nvSpPr>
          <p:cNvPr id="38" name="Text 34"/>
          <p:cNvSpPr txBox="1"/>
          <p:nvPr/>
        </p:nvSpPr>
        <p:spPr>
          <a:xfrm>
            <a:off x="411480" y="44348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사이트에서 직접 체험할 수 있어요 — 결제는 토스 테스트 키라 실제 청구 없음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개선 과제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고도화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1430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· 오류 알림 구성, 백업 외부 보관(S3), 실제 화면 캡처를 포트폴리오에 반영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기준표 DB화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920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상수로 관리 중인 위험 기준(RiskThresholds)을 DB 기준표로 옮겨 기준금리 · HUG 기준 변경에 대응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97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출시 준비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697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푸시 실기기 검증, 다가구 · 토지 등기부 실제 샘플로 파서 추가 검증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64408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74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 검토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3474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 문구와 등급 체계, 유료 변호사 매칭 구조(변호사법 제34조)를 공개 전 전문가 검토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81381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9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6400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</a:t>
            </a:r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Questions &amp; Answers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임채은   ·   project-guard.duckdns.org   ·   github.com/chean0830/guard-project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A5A6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Guard 포트폴리오</dc:title>
  <dc:subject>PptxGenJS Presentation</dc:subject>
  <dc:creator>임채은</dc:creator>
  <cp:lastModifiedBy>임채은</cp:lastModifiedBy>
  <cp:revision>1</cp:revision>
  <dcterms:created xsi:type="dcterms:W3CDTF">2026-10-15T07:30:01Z</dcterms:created>
  <dcterms:modified xsi:type="dcterms:W3CDTF">2026-10-15T07:30:01Z</dcterms:modified>
</cp:coreProperties>
</file>