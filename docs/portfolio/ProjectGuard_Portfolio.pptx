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88c0e07a-cad4-e5de-ad0c-52d2f3b16b99}">
          <p14:sldIdLst>
            <p14:sldId id="256"/>
            <p14:sldId id="257"/>
          </p14:sldIdLst>
        </p14:section>
        <p14:section name="01 프로젝트 개요" id="{db77ed6d-b610-c02a-e811-5fea9ff4d919}">
          <p14:sldIdLst>
            <p14:sldId id="258"/>
            <p14:sldId id="259"/>
            <p14:sldId id="260"/>
            <p14:sldId id="261"/>
            <p14:sldId id="262"/>
          </p14:sldIdLst>
        </p14:section>
        <p14:section name="02 설계와 기술" id="{330e2825-93b6-80b3-a76c-c8b47fb1b258}">
          <p14:sldIdLst>
            <p14:sldId id="263"/>
            <p14:sldId id="264"/>
            <p14:sldId id="265"/>
            <p14:sldId id="266"/>
            <p14:sldId id="267"/>
          </p14:sldIdLst>
        </p14:section>
        <p14:section name="03 핵심 기능" id="{c3d4e8f8-7ffd-a76e-bf8e-2c806ce1a6bf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04 트러블슈팅" id="{27a0919d-a8b7-c66e-952f-15e19466cb04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05 평가와 배포" id="{1380d9ba-87a9-a183-f275-3c0753640473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백엔드 (Spring)</c:v>
                  </c:pt>
                  <c:pt idx="1">
                    <c:v>앱 (Flutter)</c:v>
                  </c:pt>
                  <c:pt idx="2">
                    <c:v>웹 (Next.js)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11222</c:v>
                </c:pt>
                <c:pt idx="1">
                  <c:v>8617</c:v>
                </c:pt>
                <c:pt idx="2">
                  <c:v>8075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</a:t>
            </a:r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계약하기 전,</a:t>
            </a:r>
            <a:endParaRPr lang="en-US" sz="2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등기부등본부터 확인하세요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PROJECT PORTFOLIO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등기부등본을 올리면 위험 신호를 근거와 함께 알려주는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전·월세 사기 예방 서비스 · Spring Boot · Next.js · Flutter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2026.09.22 – 2026.10.10 개발 완료 · 10.15 보완 · 배포 준비   |   임채은 · 1인 풀스택 개발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5715000" y="868680"/>
            <a:ext cx="2880360" cy="3063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10332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119786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 3건을 찾았어요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79592" y="1581912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9320" y="169164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1691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700" dirty="0"/>
          </a:p>
        </p:txBody>
      </p:sp>
      <p:sp>
        <p:nvSpPr>
          <p:cNvPr id="14" name="Text 11"/>
          <p:cNvSpPr txBox="1"/>
          <p:nvPr/>
        </p:nvSpPr>
        <p:spPr>
          <a:xfrm>
            <a:off x="6464808" y="16733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 비율 84%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189280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 기준 · 국토부/금감원 안내자료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5879592" y="2240280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89320" y="235000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23500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23317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 주소 ≠ 등기부 주소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64808" y="255117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 · 등기부등본 표제부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5879592" y="2898648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89320" y="3008376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89320" y="300837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171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6464808" y="29900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소액임차인 최우선변제 대상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464808" y="320954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 · 주택임대차보호법 시행령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5897880" y="36576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법률 조언이 아닌 참고용 정보입니다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143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배경, 서비스 흐름, 개발 일정, 프로젝트 규모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61848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764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647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기술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1764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스택, 시스템 아키텍처, 분석 파이프라인, 화면 구성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24028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386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865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23865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판독, 위험 판단 엔진, 공공데이터, 상담·결제·보안·운영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862072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0083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트러블슈팅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0083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표 인식, 조용한 설정 실패, 환경변수 오염, DB 스키마, 결제 결과 불확실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483864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6301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6301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배포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36301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성과, 배포 준비 현황, 다음 단계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105656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등기부등본을 대신 읽어주는 전·월세 사기 예방 서비스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등기부등본은 받았는데,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위험한지 모릅니다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305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근저당·압류·말소 같은 용어가 어려워 위험 여부를 판단하기 힘듦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51460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채권이 보증금보다 큰지 직접 계산하기 어려움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980944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89864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보증금이 시세보다 비싼지 비교할 기준을 찾기 어려움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429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처음 전·월세 계약을 하는 사회초년생·대학생이 가장 취약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097280"/>
            <a:ext cx="3337560" cy="2926080"/>
          </a:xfrm>
          <a:prstGeom prst="roundRect">
            <a:avLst>
              <a:gd name="adj" fmla="val 187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GUARD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판독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2331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서류를 대신 읽고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알려주는 서비스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 → 공공데이터 대조 → 위험 신호 안내,</a:t>
            </a:r>
            <a:endParaRPr lang="en-US" sz="8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필요하면 승인된 변호사 상담까지 연결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흐름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업로드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또는 촬영 이미지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장 업로드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2304288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532888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118872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71800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670048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판독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670048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PDFBox·Vision OCR로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내용 구조화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4425696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54296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188720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93208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4791456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대조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791456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실거래가·건축물대장·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공시가격과 비교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6775704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1188720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14616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6912864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 리포트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912864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유형과 함께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카드·체크리스트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411480" y="2606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제공하는 기능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11480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017520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005840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1:1 상담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1005840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승인을 거친 변호사와 실시간 채팅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3218688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017520"/>
            <a:ext cx="292608" cy="29260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3813048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체크리스트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3813048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서류로 알 수 없는 확인 항목을 계약 형태별로 안내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6025896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0488" y="3017520"/>
            <a:ext cx="292608" cy="292608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620256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웹·앱 동시 지원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620256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웹과 Flutter 앱이 같은 API를 사용</a:t>
            </a:r>
            <a:endParaRPr lang="en-US" sz="800" dirty="0"/>
          </a:p>
        </p:txBody>
      </p:sp>
      <p:sp>
        <p:nvSpPr>
          <p:cNvPr id="41" name="Text 32"/>
          <p:cNvSpPr txBox="1"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한 번으로 계약 전 확인 과정을 끝까지 연결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개요와 일정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136892" y="329184"/>
            <a:ext cx="159562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6892" y="329184"/>
            <a:ext cx="1595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트렁크 기반 · PR 단위 개발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83210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19일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기간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249174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49174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15개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665226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328개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5226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097280" y="2212848"/>
            <a:ext cx="6858000" cy="0"/>
          </a:xfrm>
          <a:prstGeom prst="line">
            <a:avLst/>
          </a:prstGeom>
          <a:noFill/>
          <a:ln w="254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" y="23774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09.22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 기반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2834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Git·브랜치 전략 수립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 등기부 파싱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 엔진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시세 조회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06654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00200" y="23774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09.29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서비스 완성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2834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API·OCR 연동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건축물대장·e2e 테스트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로그인·소셜 로그인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승인·상담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25526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788920" y="23774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09.30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상담·결제·보안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2788920" y="2834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신고·정지·차단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실시간 채팅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결제·환불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인증·계정 잠금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4439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77640" y="23774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10.01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3977640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앱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977640" y="2834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회원·변호사·관리자 앱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앱 푸시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PKCE 소셜 로그인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문의함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63270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66360" y="23774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10.02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범위 확장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166360" y="2834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원룸·다가구 조건부 분석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토지 등기부 함께 분석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근린생활시설 감지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 반환보증 추정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682142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55080" y="23774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10.10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355080" y="2834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기능 마무리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정리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준비 착수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8010144" y="2130552"/>
            <a:ext cx="164592" cy="164592"/>
          </a:xfrm>
          <a:prstGeom prst="ellipse">
            <a:avLst/>
          </a:prstGeom>
          <a:solidFill>
            <a:srgbClr val="1818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543800" y="23774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10.15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7543800" y="25603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· CI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543800" y="2834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결과 불확실 처리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선점·환원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해시 저장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411480" y="416052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단위 feature 브랜치 → PR → main, 결정 사항 54건을 문서로 기록 · GitHub Actions CI로 자동 검사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규모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 · 19일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66344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1704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작성한 코드  약 2.8만 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코드 제외 · Java / TypeScript / Dart</a:t>
            </a:r>
            <a:endParaRPr lang="en-US" sz="7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691640"/>
          <a:ext cx="4389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03520" y="100584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03520" y="1170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82개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5727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엔드포인트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040880" y="100584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40880" y="1170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18개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15727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엔티티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303520" y="207568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03520" y="2240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0" y="26426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화면 (Next.js)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7040880" y="207568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040880" y="2240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25개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26426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화면 (Flutter)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5303520" y="3145536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310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328개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303520" y="371246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7040880" y="3145536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040880" y="3310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54건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371246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 설계 결정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411480" y="434340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434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328개 = 백엔드 299 · Playwright e2e 22 · Flutter 7 — GitHub Actions CI로 자동 실행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기술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로직은 Spring 서버 한 곳에 — 웹과 앱은 같은 API를 사용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11430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 · API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94360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25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94360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4.1.1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94360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Hibernate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94360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4360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Apache PDFBox 3.0.3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94360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→ PostgreSQL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2523744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136" y="114300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523744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2523744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서버 프록시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2706624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706624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16.4.0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706624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706624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19.2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2706624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706624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 5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2706624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706624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4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2706624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2706624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Playwright 1.63</a:t>
            </a:r>
            <a:endParaRPr lang="en-US" sz="850" dirty="0"/>
          </a:p>
        </p:txBody>
      </p:sp>
      <p:sp>
        <p:nvSpPr>
          <p:cNvPr id="35" name="Shape 31"/>
          <p:cNvSpPr/>
          <p:nvPr/>
        </p:nvSpPr>
        <p:spPr>
          <a:xfrm>
            <a:off x="2706624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706624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4636008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143000"/>
            <a:ext cx="274320" cy="27432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4636008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</a:t>
            </a:r>
            <a:endParaRPr lang="en-US" sz="900" dirty="0"/>
          </a:p>
        </p:txBody>
      </p:sp>
      <p:sp>
        <p:nvSpPr>
          <p:cNvPr id="40" name="Text 35"/>
          <p:cNvSpPr txBox="1"/>
          <p:nvPr/>
        </p:nvSpPr>
        <p:spPr>
          <a:xfrm>
            <a:off x="4636008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· Android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4818888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4818888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(Dart 3.13)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4818888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818888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앱 푸시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4818888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4818888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 Storage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4818888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4818888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 결제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4818888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4818888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PKCE 로그인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6748272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1143000"/>
            <a:ext cx="274320" cy="274320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6748272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</a:t>
            </a:r>
            <a:endParaRPr lang="en-US" sz="900" dirty="0"/>
          </a:p>
        </p:txBody>
      </p:sp>
      <p:sp>
        <p:nvSpPr>
          <p:cNvPr id="54" name="Text 48"/>
          <p:cNvSpPr txBox="1"/>
          <p:nvPr/>
        </p:nvSpPr>
        <p:spPr>
          <a:xfrm>
            <a:off x="6748272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</a:t>
            </a:r>
            <a:endParaRPr lang="en-US" sz="700" dirty="0"/>
          </a:p>
        </p:txBody>
      </p:sp>
      <p:sp>
        <p:nvSpPr>
          <p:cNvPr id="55" name="Shape 49"/>
          <p:cNvSpPr/>
          <p:nvPr/>
        </p:nvSpPr>
        <p:spPr>
          <a:xfrm>
            <a:off x="6931152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931152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</a:t>
            </a:r>
            <a:endParaRPr lang="en-US" sz="850" dirty="0"/>
          </a:p>
        </p:txBody>
      </p:sp>
      <p:sp>
        <p:nvSpPr>
          <p:cNvPr id="57" name="Shape 51"/>
          <p:cNvSpPr/>
          <p:nvPr/>
        </p:nvSpPr>
        <p:spPr>
          <a:xfrm>
            <a:off x="6931152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931152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국토부 실거래가</a:t>
            </a:r>
            <a:endParaRPr lang="en-US" sz="850" dirty="0"/>
          </a:p>
        </p:txBody>
      </p:sp>
      <p:sp>
        <p:nvSpPr>
          <p:cNvPr id="59" name="Shape 53"/>
          <p:cNvSpPr/>
          <p:nvPr/>
        </p:nvSpPr>
        <p:spPr>
          <a:xfrm>
            <a:off x="6931152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931152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건축물대장</a:t>
            </a:r>
            <a:endParaRPr lang="en-US" sz="850" dirty="0"/>
          </a:p>
        </p:txBody>
      </p:sp>
      <p:sp>
        <p:nvSpPr>
          <p:cNvPr id="61" name="Shape 55"/>
          <p:cNvSpPr/>
          <p:nvPr/>
        </p:nvSpPr>
        <p:spPr>
          <a:xfrm>
            <a:off x="6931152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931152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 · 브이월드</a:t>
            </a:r>
            <a:endParaRPr lang="en-US" sz="850" dirty="0"/>
          </a:p>
        </p:txBody>
      </p:sp>
      <p:sp>
        <p:nvSpPr>
          <p:cNvPr id="63" name="Shape 57"/>
          <p:cNvSpPr/>
          <p:nvPr/>
        </p:nvSpPr>
        <p:spPr>
          <a:xfrm>
            <a:off x="6931152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931152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</a:t>
            </a:r>
            <a:endParaRPr lang="en-US" sz="850" dirty="0"/>
          </a:p>
        </p:txBody>
      </p:sp>
      <p:sp>
        <p:nvSpPr>
          <p:cNvPr id="65" name="Shape 59"/>
          <p:cNvSpPr/>
          <p:nvPr/>
        </p:nvSpPr>
        <p:spPr>
          <a:xfrm>
            <a:off x="6931152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931152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구글·카카오·네이버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03720" y="329184"/>
            <a:ext cx="182880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329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API 서버 · 멀티 클라이언트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7830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070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Web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63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Action · Route Handler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 세션 쿠키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11480" y="2880360"/>
            <a:ext cx="17830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90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App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46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· Android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 Storage · FCM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212848" y="1417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 · REST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20040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· WS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212848" y="1600200"/>
            <a:ext cx="77724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12848" y="3383280"/>
            <a:ext cx="77724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17520" y="960120"/>
            <a:ext cx="3108960" cy="3108960"/>
          </a:xfrm>
          <a:prstGeom prst="roundRect">
            <a:avLst>
              <a:gd name="adj" fmla="val 176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10789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Backend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13167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25 · REST + WebSocket · 82개 API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182112" y="1627632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17373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197510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 · risk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194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PDF/OCR 파싱 · 규칙 15개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663440" y="1627632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17373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연동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197510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773168" y="2194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· 건축물대장 · 공시가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182112" y="2798064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0" y="2907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관리자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291840" y="31455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· lawyer · admin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91840" y="3364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토큰 · 인터셉터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663440" y="2798064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2907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· 결제 · 알림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773168" y="31455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consultation · payment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773168" y="3364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· Toss · Push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144768" y="1463040"/>
            <a:ext cx="548640" cy="0"/>
          </a:xfrm>
          <a:prstGeom prst="line">
            <a:avLst/>
          </a:prstGeom>
          <a:noFill/>
          <a:ln w="12700">
            <a:solidFill>
              <a:srgbClr val="8A8A9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144768" y="3017520"/>
            <a:ext cx="548640" cy="0"/>
          </a:xfrm>
          <a:prstGeom prst="line">
            <a:avLst/>
          </a:prstGeom>
          <a:noFill/>
          <a:ln w="12700">
            <a:solidFill>
              <a:srgbClr val="8A8A93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144768" y="12618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6144768" y="28163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720840" y="109728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0" y="1207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→ PostgreSQL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14447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엔티티 18개 · 파일 기반 개발 DB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시 PostgreSQL 전환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720840" y="214884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0" y="2258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 APIs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25146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 (OCR)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국토부 실거래가 · 건축HUB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 · 브이월드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· Web Push · SMTP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· Kakao · Naver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3434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규칙이 바뀌면 서버만 수정 — 웹·앱에 동시 반영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 파이프라인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136892" y="329184"/>
            <a:ext cx="159562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6892" y="329184"/>
            <a:ext cx="1595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/api/analyze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329184"/>
          </a:xfrm>
          <a:prstGeom prst="roundRect">
            <a:avLst>
              <a:gd name="adj" fmla="val 16667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96012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/api/analyze  </a:t>
            </a:r>
            <a:pPr indent="0" marL="0">
              <a:buNone/>
            </a:pPr>
            <a:r>
              <a:rPr lang="en-US" sz="800" dirty="0">
                <a:solidFill>
                  <a:srgbClr val="C4C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multipart/form-data · files[] · address · deposit · monthlyRent · contractType · propertyType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50392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수신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5장 · PDF 30쪽까지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Content-Type으로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판독 경로 분기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938528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112264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600200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51176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2249424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추출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249424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→ PDFBox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→ Vision OCR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결과 정규화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363931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3813048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1600200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251960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3950208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파싱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950208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표제부·갑구·을구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근저당·압류·말소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종류 판별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5340096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513832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0992" y="1600200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952744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5650992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조회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5650992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→ 법정동코드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시세 매칭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건축물대장·공시가격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704088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33" name="Shape 27"/>
          <p:cNvSpPr/>
          <p:nvPr/>
        </p:nvSpPr>
        <p:spPr>
          <a:xfrm>
            <a:off x="7214616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6" y="160020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653528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7351776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15개 독립 평가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근거·심각도 포함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체크리스트·면책 문구</a:t>
            </a:r>
            <a:endParaRPr lang="en-US" sz="800" dirty="0"/>
          </a:p>
        </p:txBody>
      </p:sp>
      <p:sp>
        <p:nvSpPr>
          <p:cNvPr id="38" name="Shape 31"/>
          <p:cNvSpPr/>
          <p:nvPr/>
        </p:nvSpPr>
        <p:spPr>
          <a:xfrm>
            <a:off x="411480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401568"/>
            <a:ext cx="274320" cy="27432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78408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비저장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978408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파일은 메모리에서만 처리하고 분석이 끝나면 폐기</a:t>
            </a:r>
            <a:endParaRPr lang="en-US" sz="800" dirty="0"/>
          </a:p>
        </p:txBody>
      </p:sp>
      <p:sp>
        <p:nvSpPr>
          <p:cNvPr id="42" name="Shape 34"/>
          <p:cNvSpPr/>
          <p:nvPr/>
        </p:nvSpPr>
        <p:spPr>
          <a:xfrm>
            <a:off x="3218688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01568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3785616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3785616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API가 실패해도 빈 값으로 대체 — 시세가 없어도 등기부 분석은 성공</a:t>
            </a:r>
            <a:endParaRPr lang="en-US" sz="800" dirty="0"/>
          </a:p>
        </p:txBody>
      </p:sp>
      <p:sp>
        <p:nvSpPr>
          <p:cNvPr id="46" name="Shape 37"/>
          <p:cNvSpPr/>
          <p:nvPr/>
        </p:nvSpPr>
        <p:spPr>
          <a:xfrm>
            <a:off x="6025896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0488" y="3401568"/>
            <a:ext cx="274320" cy="274320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6592824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우선</a:t>
            </a:r>
            <a:endParaRPr lang="en-US" sz="1000" dirty="0"/>
          </a:p>
        </p:txBody>
      </p:sp>
      <p:sp>
        <p:nvSpPr>
          <p:cNvPr id="49" name="Text 39"/>
          <p:cNvSpPr txBox="1"/>
          <p:nvPr/>
        </p:nvSpPr>
        <p:spPr>
          <a:xfrm>
            <a:off x="6592824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신호에 출처를 붙이고 법률 조언이 아님을 응답에 포함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— 역할별 웹 · 앱 화면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22개 · 앱 25개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19786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9848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분석부터 상담까지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· 분석 결과 · 체크리스트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문의 · 내 문의 내역 · 대화방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직접 선택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변호사 목록 · 이용권 결제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내역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환불 · 환불 요청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가입(이메일 인증) · 소셜 로그인 · 설정 · 탈퇴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218688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383280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197864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877056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877056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심사를 통과한 변호사만 이용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3401568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· 로그인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3401568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제출 → 관리자 승인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3401568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문의함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3401568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배정된 상담 실시간 목록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3401568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대화방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3401568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채팅 · 신고 · 차단</a:t>
            </a:r>
            <a:endParaRPr lang="en-US" sz="800" dirty="0"/>
          </a:p>
        </p:txBody>
      </p:sp>
      <p:sp>
        <p:nvSpPr>
          <p:cNvPr id="33" name="Text 29"/>
          <p:cNvSpPr txBox="1"/>
          <p:nvPr/>
        </p:nvSpPr>
        <p:spPr>
          <a:xfrm>
            <a:off x="3401568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메시지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401568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운영자와 1:1 소통 · 안 읽음 표시</a:t>
            </a:r>
            <a:endParaRPr lang="en-US" sz="800" dirty="0"/>
          </a:p>
        </p:txBody>
      </p:sp>
      <p:sp>
        <p:nvSpPr>
          <p:cNvPr id="35" name="Text 31"/>
          <p:cNvSpPr txBox="1"/>
          <p:nvPr/>
        </p:nvSpPr>
        <p:spPr>
          <a:xfrm>
            <a:off x="3401568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3401568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· 강점 · 알림 · 차단 관리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6025896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0488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197864"/>
            <a:ext cx="219456" cy="219456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684264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684264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 콘솔</a:t>
            </a:r>
            <a:endParaRPr lang="en-US" sz="750" dirty="0"/>
          </a:p>
        </p:txBody>
      </p:sp>
      <p:sp>
        <p:nvSpPr>
          <p:cNvPr id="42" name="Text 37"/>
          <p:cNvSpPr txBox="1"/>
          <p:nvPr/>
        </p:nvSpPr>
        <p:spPr>
          <a:xfrm>
            <a:off x="6208776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심사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6208776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확인 · 승인 · 거절 · 승인 취소</a:t>
            </a:r>
            <a:endParaRPr lang="en-US" sz="800" dirty="0"/>
          </a:p>
        </p:txBody>
      </p:sp>
      <p:sp>
        <p:nvSpPr>
          <p:cNvPr id="44" name="Text 39"/>
          <p:cNvSpPr txBox="1"/>
          <p:nvPr/>
        </p:nvSpPr>
        <p:spPr>
          <a:xfrm>
            <a:off x="6208776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관리</a:t>
            </a:r>
            <a:endParaRPr lang="en-US" sz="900" dirty="0"/>
          </a:p>
        </p:txBody>
      </p:sp>
      <p:sp>
        <p:nvSpPr>
          <p:cNvPr id="45" name="Text 40"/>
          <p:cNvSpPr txBox="1"/>
          <p:nvPr/>
        </p:nvSpPr>
        <p:spPr>
          <a:xfrm>
            <a:off x="6208776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원문 확인 · 이용 정지 · 기각</a:t>
            </a:r>
            <a:endParaRPr lang="en-US" sz="800" dirty="0"/>
          </a:p>
        </p:txBody>
      </p:sp>
      <p:sp>
        <p:nvSpPr>
          <p:cNvPr id="46" name="Text 41"/>
          <p:cNvSpPr txBox="1"/>
          <p:nvPr/>
        </p:nvSpPr>
        <p:spPr>
          <a:xfrm>
            <a:off x="6208776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관리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6208776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· 20명 단위 페이지 · 정지 해제</a:t>
            </a:r>
            <a:endParaRPr lang="en-US" sz="800" dirty="0"/>
          </a:p>
        </p:txBody>
      </p:sp>
      <p:sp>
        <p:nvSpPr>
          <p:cNvPr id="48" name="Text 43"/>
          <p:cNvSpPr txBox="1"/>
          <p:nvPr/>
        </p:nvSpPr>
        <p:spPr>
          <a:xfrm>
            <a:off x="6208776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관리</a:t>
            </a:r>
            <a:endParaRPr lang="en-US" sz="900" dirty="0"/>
          </a:p>
        </p:txBody>
      </p:sp>
      <p:sp>
        <p:nvSpPr>
          <p:cNvPr id="49" name="Text 44"/>
          <p:cNvSpPr txBox="1"/>
          <p:nvPr/>
        </p:nvSpPr>
        <p:spPr>
          <a:xfrm>
            <a:off x="6208776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승인 · 거절</a:t>
            </a:r>
            <a:endParaRPr lang="en-US" sz="800" dirty="0"/>
          </a:p>
        </p:txBody>
      </p:sp>
      <p:sp>
        <p:nvSpPr>
          <p:cNvPr id="50" name="Text 45"/>
          <p:cNvSpPr txBox="1"/>
          <p:nvPr/>
        </p:nvSpPr>
        <p:spPr>
          <a:xfrm>
            <a:off x="6208776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메시지</a:t>
            </a:r>
            <a:endParaRPr lang="en-US" sz="900" dirty="0"/>
          </a:p>
        </p:txBody>
      </p:sp>
      <p:sp>
        <p:nvSpPr>
          <p:cNvPr id="51" name="Text 46"/>
          <p:cNvSpPr txBox="1"/>
          <p:nvPr/>
        </p:nvSpPr>
        <p:spPr>
          <a:xfrm>
            <a:off x="6208776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→ 변호사 1:1 안내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411480" y="443484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548640" y="4434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기능을 웹(Next.js)과 앱(Flutter)에서 같은 API로 제공 — 앱은 카메라 촬영 업로드 · FCM 푸시 추가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판독 · 위험 판단 · 공공데이터 · 상담과 결제 · 운영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자동 판독 — PDF와 촬영 이미지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281928" y="329184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81928" y="329184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 · Google Cloud Vision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332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원본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인터넷등기소 발급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1856232" y="14173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29968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39696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Apache PDFBox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139696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Identity-H 한글 정상 추출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4173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02736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RegistryParser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12464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갑구·을구 섹션 인식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말소 항목 매칭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1305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57200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이미지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장 순서대로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1856232" y="25146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029968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39696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OCR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39696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DOCUMENT_TEXT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25146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12464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정규화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712464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병합 · 헤더 보정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스캔 보완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57200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표제부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· 고유번호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종류 판별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029968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139696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갑구 · 소유권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139696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소유자 이력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압류 · 가압류 · 경매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02736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12464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을구 · 소유권 외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712464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 채권최고액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근저당권자 · 말소 여부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257800" y="105156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13248" y="11430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파싱 결과 (RegistryAnalysis · 가상 데이터)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5413248" y="137160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"registryKind": "COLLECTIVE_BUILDING",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"ownershipHistory": [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1, "ownerName": "김○○",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false } 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"mortgages": [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1, "maxClaimAmount": 240000000,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"mortgageeName": "○○농협",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true },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2, "maxClaimAmount": 156000000,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"mortgageeName": "○○은행",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false } 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"seizures": [],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"totalActiveMortgageAmount": 156000000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431596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말소된 근저당은 합계에서 제외 → 실제 선순위 채권만 계산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 엔진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281928" y="329184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81928" y="329184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Strategy Pattern · Spring DI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206240" cy="3063240"/>
          </a:xfrm>
          <a:prstGeom prst="roundRect">
            <a:avLst>
              <a:gd name="adj" fmla="val 1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143000"/>
            <a:ext cx="3977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RiskRule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Optional&lt;RiskSignal&gt; evaluate(RiskAssessmentInput in);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@Service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RiskAssessmentService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@Component 규칙 15개가 자동 주입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final List&lt;RiskRule&gt; rules;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RiskAssessmentResult assess(RiskAssessmentInput in)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new RiskAssessmentResult(rules.stream()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.map(rule -&gt; rule.evaluate(in))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.flatMap(Optional::stream)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.toList());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0241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추가 = 클래스 하나 추가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2984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코드를 고치지 않고 규칙만 늘리는 구조(OCP). 각 규칙은 입력만 받아 독립적으로 평가하므로 규칙별 단위 테스트가 쉬움.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유형 3단계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92040" y="221284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2128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5687568" y="221284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등기부·건축물대장 기록 그대로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92040" y="2542032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92040" y="254203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687568" y="254203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주택임대차보호법 시행령 등 법령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92040" y="2871216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287121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687568" y="287121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HUG·국토부 기준, 구속력 없음 명시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291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심각도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92040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92040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위험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062472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62472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CAUTION 주의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232904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32904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171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 안내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29768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RiskSignal(code, title, severity, source, sourceDescription, detail) — 카드 1장 = 신호 1개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판단 기준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70064" y="329184"/>
            <a:ext cx="136245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70064" y="329184"/>
            <a:ext cx="1362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· 출처를 함께 표시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61288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6072" y="1161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430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 비율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11612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76072" y="1481328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" y="148132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(활성 근저당 + 보증금) ÷ 시세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이상 위험 · 70% 이상 주의 — 말소된 근저당은 제외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36008" y="1005840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1161288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161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5550408" y="11430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전세가율 · 월세 환산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11612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800600" y="1481328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48132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 + 월세 × 12 ÷ 전환율 5%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818888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대비 90% 이상 위험 · 80% 이상 주의 (주임법 시행령 제9조 전환율)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2542032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" y="2697480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" y="26974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26791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 침해 기록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26974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017520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" y="30175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미말소 압류·가압류·경매 / 소유자 ≠ 임대인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456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없이 기록 그대로 위험 표시 — 주소 불일치는 오탐을 고려해 주의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36008" y="2542032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00600" y="2697480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26974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</a:t>
            </a:r>
            <a:endParaRPr lang="en-US" sz="70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26791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소액임차인 최우선변제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562088" y="26974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800600" y="3017520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92040" y="30175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 ≤ 지역별 상한 → 우선 변제 대상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818888" y="3456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1.65억 이하 시 5,500만 원까지 (주임법 시행령 제10~11조)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11480" y="42245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외 근린생활시설 원룸 · 위반건축물 · 부동산 유형 불일치 · 토지 등기부 · 다가구 전용 규칙까지 총 15개 규칙, 위험 신호 17종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연동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748272" y="329184"/>
            <a:ext cx="198424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48272" y="3291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 · 공공 API 5종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입력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12264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12264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juso.go.kr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12264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법정동코드 admCd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13048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13048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LAWD_CD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813048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admCd 앞 5자리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13832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13832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API ×3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513832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아파트·오피스텔·연립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14616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14616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매칭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14616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단지명 + 면적 ±3㎡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11480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176272"/>
            <a:ext cx="274320" cy="2743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960120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AbstractTradeClient 공통화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76072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API는 응답 구조가 같고 건물명 필드만 다름 (aptNm · offiNm · mhouseNm). 호출 로직을 추상 클래스로 묶고 각 클라이언트는 엔드포인트와 필드명만 정의.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218688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176272"/>
            <a:ext cx="274320" cy="27432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3767328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 층별 용도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3383280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표제부 + 층별개요 조회. 이름이 아닌 용도 코드(03·04 = 근린생활시설)로 판별해 상가를 개조한 '근생 원룸'을 감지.</a:t>
            </a:r>
            <a:endParaRPr lang="en-US" sz="800" dirty="0"/>
          </a:p>
        </p:txBody>
      </p:sp>
      <p:sp>
        <p:nvSpPr>
          <p:cNvPr id="34" name="Shape 30"/>
          <p:cNvSpPr/>
          <p:nvPr/>
        </p:nvSpPr>
        <p:spPr>
          <a:xfrm>
            <a:off x="6025896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2176272"/>
            <a:ext cx="274320" cy="27432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574536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기준값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6190488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브이월드 개별주택가격을 PNU(법정동 10 + 대지구분 1 + 본번 4 + 부번 4)로 조회. 시세를 알 수 없는 다가구의 보수적 기준으로 사용.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411480" y="4133088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48640" y="41330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  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RestClientException → 빈 값으로 대체 — 부가 조회가 실패해도 등기부 분석은 항상 성공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 · 다가구 조건부 분석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292340" y="329184"/>
            <a:ext cx="144018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92340" y="329184"/>
            <a:ext cx="14401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 + 보수적 계산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515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등기부만으로 알 수 없는 집은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'안전' 판정을 내리지 않습니다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30352" y="201168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다가구는 건물 전체에 등기부가 하나 — 먼저 들어온 세입자 보증금이 등기부에 없음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51460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4231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보증금을 사용자가 입력하고, 확인 출처(서류 / 임대인 말 / 모름)도 함께 받음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0352" y="301752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서류로 확인하지 않았다면 계산 결과와 상관없이 위험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0352" y="352044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3429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건물·토지 공동담보는 접수일·채권최고액·근저당권자가 같으면 한 번만 계산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120640" y="1005840"/>
            <a:ext cx="3611880" cy="3017520"/>
          </a:xfrm>
          <a:prstGeom prst="roundRect">
            <a:avLst>
              <a:gd name="adj" fmla="val 181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0" y="11155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다가구 선순위 비율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1371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 (건물 + 토지에만 있는 것)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먼저 들어온 세입자 보증금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소액임차인 최우선변제 추정액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내 보증금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2487168"/>
            <a:ext cx="3246120" cy="0"/>
          </a:xfrm>
          <a:prstGeom prst="line">
            <a:avLst/>
          </a:prstGeom>
          <a:noFill/>
          <a:ln w="9525">
            <a:solidFill>
              <a:srgbClr val="3F3F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0352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÷ 기준 가격 (입력 시세, 없으면 공시가격)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80%↑ 위험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40080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70%↑ 주의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49808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조건부 주의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 반환보증 가입 가능성도 추정 — 공시가격 × 140%, 근저당 60% · 선순위 80% · 전체 90% 기준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 · 실시간 채팅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437376" y="329184"/>
            <a:ext cx="2295144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37376" y="329184"/>
            <a:ext cx="229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· Web Push · FCM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가입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제출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(파일 시그니처 검사)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655064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10512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01952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승인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901952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PENDING → APPROVED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054096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09544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00984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00984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랜덤 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직접 선택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4453128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608576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0016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채팅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700016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대화 · 신고 · 차단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99632" y="111556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메시지가 상대 화면에 표시되기까지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1371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4.5초 → 0.3초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19385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폴링 → WebSocket 전환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2212848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전송은 HTTP 그대로 두고, 저장 시 이벤트를 발행해 같은 대화방에 연결된 화면으로 즉시 전달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11480" y="2011680"/>
            <a:ext cx="546811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1031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인증 — 1회용 입장권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접근 불가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89280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9280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서버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9280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 쿠키 인증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21868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21868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321868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60초 1회용 티켓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54456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4456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wss 연결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4456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티켓으로만 입장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2926080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Origin 제한 · 끊기면 지수 백오프로 재연결 · 30초 주기 조회를 안전망으로 유지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411480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3438144"/>
            <a:ext cx="256032" cy="256032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941832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· 이용 정지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576072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 2가지(욕설·모욕 / 금전 요구)만 접수, 정지 시 기존 세션까지 즉시 무효</a:t>
            </a:r>
            <a:endParaRPr lang="en-US" sz="780" dirty="0"/>
          </a:p>
        </p:txBody>
      </p:sp>
      <p:sp>
        <p:nvSpPr>
          <p:cNvPr id="46" name="Shape 43"/>
          <p:cNvSpPr/>
          <p:nvPr/>
        </p:nvSpPr>
        <p:spPr>
          <a:xfrm>
            <a:off x="3218688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438144"/>
            <a:ext cx="256032" cy="256032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3749040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차단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3383280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관계면 양쪽 모두 메시지 불가, 매칭·목록에서도 서로 제외</a:t>
            </a:r>
            <a:endParaRPr lang="en-US" sz="780" dirty="0"/>
          </a:p>
        </p:txBody>
      </p:sp>
      <p:sp>
        <p:nvSpPr>
          <p:cNvPr id="50" name="Shape 46"/>
          <p:cNvSpPr/>
          <p:nvPr/>
        </p:nvSpPr>
        <p:spPr>
          <a:xfrm>
            <a:off x="6025896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3438144"/>
            <a:ext cx="256032" cy="256032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6556248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3채널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190488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· 웹 푸시(VAPID) · 앱 푸시(FCM), 발송이 실패해도 상담은 성공</a:t>
            </a:r>
            <a:endParaRPr lang="en-US" sz="7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— 금액은 항상 서버가 결정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9496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39496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생성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39496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상품별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결정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12264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결제창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결제 진행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13048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41064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941064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검증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41064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돌아온 금액 ≠ 주문 금액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승인 요청 안 함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5321808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513832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41848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승인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Idempotency-Key = 주문번호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초과·5xx는 결과 불확실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7022592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214616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42632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7342632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사용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342632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시작 시 선점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환원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40965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42032"/>
            <a:ext cx="256032" cy="256032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60120" y="2551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구조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12648" y="29718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87452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아이디당 무료 5회 → 이후 990원 / 회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12648" y="34107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직접 선택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1874520" y="34107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2,900원 / 회 · 강점 프로필 비교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612648" y="38496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횟수 기준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874520" y="38496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해시 — 재가입해도 유지, 실패 시 환원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4636008" y="2395728"/>
            <a:ext cx="40965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542032"/>
            <a:ext cx="256032" cy="25603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184648" y="2551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· 환불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4837176" y="29718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이용권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6099048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취소 API로 바로 환불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4837176" y="34107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사용한 이용권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6099048" y="34107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→ 관리자 승인 후 취소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4837176" y="38496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제어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6099048" y="38496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비관적 잠금 · 이용권 선점으로 중복 사용 차단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인증과 보안 설계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059168" y="329184"/>
            <a:ext cx="167335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59168" y="329184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개인정보를 다루는 서비스의 기본기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52728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51560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토큰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불투명 랜덤 토큰, DB엔 SHA-256 해시만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로그아웃·정지 시 즉시 무효화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서버 규모라 JWT 대신 선택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218688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83280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25272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858768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보호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3401568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 해시 · 5회 오류 시 잠금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이메일 6자리 인증 · 대소문자 통일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재설정 토큰은 SHA-256 해시만 저장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6025896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90488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252728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665976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6208776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nonce로 CSRF 방지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인증된 계정만 연동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경로 리다이렉트 차단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11480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76072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944368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51560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로그인 PKCE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94360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앱은 verifier, 웹엔 challenge만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· 1회용 코드로 토큰 교환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스킴 가로채기 대응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3218688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383280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2944368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858768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· 파일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3401568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원본 디스크 비저장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서류는 파일 시그니처 검사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키는 .env로 분리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6025896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190488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2784" y="2944368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665976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보안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6208776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헤더 · secure 쿠키 · H2 콘솔 차단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보안 패치, 운영 의존성 audit 0건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환경변수 유입 차단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관리자 기능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214616" y="329184"/>
            <a:ext cx="1517904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14616" y="329184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서비스를 위한 운영 장치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8755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5214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3444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9848" y="1133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심사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38988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서류(PDF·JPG) 확인 후 승인 · 거절. 승인 취소 시 승인 대기로 되돌리고 로그인 세션 즉시 종료, 매칭 목록에서 제외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636008" y="98755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00600" y="115214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23444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94376" y="1133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· 이용 정지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294376" y="138988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원문을 보고 정지 또는 기각. 정지 즉시 세션 차단, 정지된 변호사는 매칭에서 제외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11480" y="208483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072" y="224942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31720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69848" y="22311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→ 변호사 1:1 메시지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069848" y="248716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안내를 변호사 알림함으로 전달 — 안 읽음 뱃지와 앱 푸시까지 웹·앱 공통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636008" y="208483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800600" y="224942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331720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22311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관리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294376" y="248716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사용한 이용권 환불 요청을 관리자가 승인 · 거절. 회원·변호사 목록은 20명 단위 서버 검색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411480" y="318211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76072" y="334670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29000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069848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남용 방지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1069848" y="358444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시도 하루 20회 · 업로드 5장/PDF 30쪽 · 상담 메시지 2000자 · 인증번호 10분·5회 · 비밀번호 5회 오류 잠금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4636008" y="318211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800600" y="334670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429000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294376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정리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5294376" y="358444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새벽 4시 만료된 세션·인증 기록 정리 — 누적 무료 횟수는 지우지 않도록 테스트로 고정</a:t>
            </a:r>
            <a:endParaRPr lang="en-US" sz="800" dirty="0"/>
          </a:p>
        </p:txBody>
      </p:sp>
      <p:sp>
        <p:nvSpPr>
          <p:cNvPr id="37" name="Text 29"/>
          <p:cNvSpPr txBox="1"/>
          <p:nvPr/>
        </p:nvSpPr>
        <p:spPr>
          <a:xfrm>
            <a:off x="411480" y="43434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콘솔은 웹 /admin과 앱 하단 탭 콘솔에서 같은 API로 동작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웹과 앱 — 하나의 API, 두 개의 클라이언트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03720" y="329184"/>
            <a:ext cx="182880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329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 · Flutter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29000"/>
                <a:gridCol w="3429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· Next.js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 · Flutter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보관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httpOnly 쿠키 + Server Action 프록시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Secure Storage + Bearer 토큰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소셜 로그인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 Handler에서 OAuth 처리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로그인 재사용 (Custom Tabs) + PKCE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WebSocket 1회용 입장권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입장권 방식 공유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Push (VAPID · Service Worker)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FCM (HTTP v1 직접 호출)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서류 업로드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선택 · 여러 장 업로드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촬영 · 갤러리 · 파일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결제창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안 WebView로 토스 결제창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/admin 4개 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탭 관리자 콘솔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42245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화면만 다르고 분석 · 인증 · 결제 로직은 Spring 서버에서 공통 처리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트러블슈팅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표 인식, 조용한 설정 실패, 환경변수 오염, DB 스키마, 결제 결과 불확실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이미지에서 등기부 항목이 비어 나옴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592824" y="329184"/>
            <a:ext cx="213969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92824" y="32918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 · 파서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4페이지를 촬영 이미지로 올리면 갑구·을구 항목이 빈 배열로 반환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OCR은 표를 셀 단위로 쪼갬 — 【갑 구】 헤더가 여러 줄로 나뉘고, 순위번호와 등기목적이 다른 줄로 분리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부제(소유권에 관한 사항)를 보조 헤더로 사용, 순위번호 단독 줄 병합, 채무자·근저당권자 전체 스캔 보완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문서의 PDF 결과와 동일하게 추출 — OCR 전용 정규화라 PDF 경로 회귀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엔진별 출력 차이를 파서 앞 정규화 단계에서 흡수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기반 규칙이 한 번도 발동하지 않음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748272" y="329184"/>
            <a:ext cx="198424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48272" y="3291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 · dotenv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조회가 항상 null — 예외도 로그도 없어 테스트 DB에 데이터가 없는 줄로 오인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spring-dotenv 4.0.0의 리스너가 Spring Boot 4에서 호출되지 않아 모든 API 키가 빈 문자열로 주입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dotenv-java로 main()에서 .env를 직접 읽어 System 프로퍼티로 등록 (Environment 최우선 순위)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시세(5.3억 원) 조회 확인, 선순위 채권·전세가율 규칙 정상 동작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없는 실패는 초기화 로그와 jar 단독 실행으로 원인을 좁혀 해결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등록 API가 매번 3–5초 지연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환경변수 격리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 문의 등록 요청이 매번 3–5초씩 걸림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환경변수에 남아 있던 다른 프로젝트의 메일 계정을 설정 기본값 문법이 그대로 읽어 실제 SMTP 인증을 시도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 키는 .env 파일에 명시된 값만 허용, 없으면 빈 값으로 강제 — 웹 프론트에도 같은 원칙 적용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70ms대로 단축, 소셜 로그인이 다른 앱으로 연결되던 문제도 같은 방식으로 해결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설정의 출처를 하나로 고정해 개발 PC 환경에 따라 동작이 바뀌지 않게 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결제 관리 탭 500 오류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H2 스키마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· 결제 취소 탭이 조회만 해도 500 오류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H2가 @Enumerated 컬럼을 생성 당시 값의 ENUM 타입으로 고정 — 나중에 추가한 REFUNDED 등을 거부. 테스트는 매번 새 DB라 놓침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컬럼 9개를 varchar(30)으로 정의, ddl-auto가 기존 DB 타입을 변환하는 것을 복사본 DB로 확인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EnumColumnTypeTest로 ENUM 타입 컬럼이 생기면 테스트 실패 — 재발 방지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개발 DB의 차이를 확인하고, 같은 실수를 테스트로 고정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승인 결과를 알 수 없을 때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81444" y="329184"/>
            <a:ext cx="175107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81444" y="329184"/>
            <a:ext cx="17510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· 멱등키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승인 요청이 시간 초과·5xx로 끝나면 돈이 빠져나갔을 수 있는데, 주문을 FAILED로 굳혀 재시도가 막힘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거절이 확실한 응답(4xx)과 결과를 알 수 없는 응답을 구분하지 않고 모든 오류를 실패로 처리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4xx만 실패, 나머지는 결과 불확실로 주문을 READY 유지 — 같은 주문으로 재승인(멱등키), '이미 처리됨' 응답은 결제 조회로 상태·주문번호·금액 확인 후 성공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결제 없이 재시도 가능, 토스 테스트 키로 오류·조회 응답 형식 확인 — 이용권도 시작 시 선점·실패 시 환원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돈이 오가는 흐름은 '실패'와 '모름'을 구분해 설계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배포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성과, 배포 준비 현황, 다음 단계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평가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83210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풀스택 개발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2075688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19일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075688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기간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3739896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2.8만 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739896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작성한 코드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404104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328개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404104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7068312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54건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068312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 설계 결정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057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057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판독부터 위험 신호, 변호사 상담, 결제, 관리자 운영까지 웹·앱으로 이어지는 서비스를 혼자 완성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251460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엔진(15개) · 공공 API 5종 연동 · WebSocket · PKCE · 토스 결제를 직접 설계하고 테스트 328개 · CI로 검증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06324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154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없이 단정하지 않기 — 모든 신호에 출처를 달고, 확인할 수 없는 집은 '안전' 판정을 보류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61188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도구(Claude Code)로 구현 속도를 높이고, 설계 결정 · 원인 분석 · 검증은 직접 — 결정 54건을 문서로 남김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준비 현황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 · 배포 직전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069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7043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41832" y="1170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준비된 것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727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157276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DB 드라이버(PostgreSQL) 포함, DB 주소·DDL 설정을 환경변수로 분리 (운영은 validate)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1031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환경에서 secure 쿠키 · 보안 헤더 · H2 콘솔 차단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26334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263347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허용 Origin과 메일 링크 주소를 FRONTEND_ORIGIN 한 곳에서 관리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21792" y="3163824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316382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외부 키를 .env로 분리, 키가 없으면 해당 조회만 건너뛰고 분석은 동작</a:t>
            </a:r>
            <a:endParaRPr lang="en-US" sz="83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69417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369417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 — 백엔드 테스트 · 웹 lint·타입·빌드·audit · 앱 analyze·test 자동 실행 (테스트 328개)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4663440" y="1005840"/>
            <a:ext cx="4069080" cy="3291840"/>
          </a:xfrm>
          <a:prstGeom prst="roundRect">
            <a:avLst>
              <a:gd name="adj" fmla="val 1667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70432"/>
            <a:ext cx="256032" cy="256032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193792" y="1170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배포할 때 할 일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846320" y="1591056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46320" y="159105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</a:t>
            </a:r>
            <a:endParaRPr lang="en-US" sz="750" dirty="0"/>
          </a:p>
        </p:txBody>
      </p:sp>
      <p:sp>
        <p:nvSpPr>
          <p:cNvPr id="25" name="Text 21"/>
          <p:cNvSpPr txBox="1"/>
          <p:nvPr/>
        </p:nvSpPr>
        <p:spPr>
          <a:xfrm>
            <a:off x="5468112" y="1572768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Vercel · 백엔드 Render/Fly.io · DB PostgreSQL</a:t>
            </a:r>
            <a:endParaRPr lang="en-US" sz="830" dirty="0"/>
          </a:p>
        </p:txBody>
      </p:sp>
      <p:sp>
        <p:nvSpPr>
          <p:cNvPr id="26" name="Shape 22"/>
          <p:cNvSpPr/>
          <p:nvPr/>
        </p:nvSpPr>
        <p:spPr>
          <a:xfrm>
            <a:off x="4846320" y="2121408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46320" y="2121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5468112" y="2103120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Flyway 마이그레이션 도입 후 DDL_AUTO=validate</a:t>
            </a:r>
            <a:endParaRPr lang="en-US" sz="830" dirty="0"/>
          </a:p>
        </p:txBody>
      </p:sp>
      <p:sp>
        <p:nvSpPr>
          <p:cNvPr id="29" name="Shape 25"/>
          <p:cNvSpPr/>
          <p:nvPr/>
        </p:nvSpPr>
        <p:spPr>
          <a:xfrm>
            <a:off x="4846320" y="2651760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846320" y="26517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750" dirty="0"/>
          </a:p>
        </p:txBody>
      </p:sp>
      <p:sp>
        <p:nvSpPr>
          <p:cNvPr id="31" name="Text 27"/>
          <p:cNvSpPr txBox="1"/>
          <p:nvPr/>
        </p:nvSpPr>
        <p:spPr>
          <a:xfrm>
            <a:off x="5468112" y="263347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FRONTEND_ORIGIN · OAuth 리다이렉트 URI · 브이월드 도메인 · wss 교체</a:t>
            </a:r>
            <a:endParaRPr lang="en-US" sz="830" dirty="0"/>
          </a:p>
        </p:txBody>
      </p:sp>
      <p:sp>
        <p:nvSpPr>
          <p:cNvPr id="32" name="Shape 28"/>
          <p:cNvSpPr/>
          <p:nvPr/>
        </p:nvSpPr>
        <p:spPr>
          <a:xfrm>
            <a:off x="4846320" y="3182112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46320" y="31821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</a:t>
            </a:r>
            <a:endParaRPr lang="en-US" sz="750" dirty="0"/>
          </a:p>
        </p:txBody>
      </p:sp>
      <p:sp>
        <p:nvSpPr>
          <p:cNvPr id="34" name="Text 30"/>
          <p:cNvSpPr txBox="1"/>
          <p:nvPr/>
        </p:nvSpPr>
        <p:spPr>
          <a:xfrm>
            <a:off x="5468112" y="3163824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라이브 키 · FCM · VAPID · 메일 계정 등록</a:t>
            </a:r>
            <a:endParaRPr lang="en-US" sz="830" dirty="0"/>
          </a:p>
        </p:txBody>
      </p:sp>
      <p:sp>
        <p:nvSpPr>
          <p:cNvPr id="35" name="Shape 31"/>
          <p:cNvSpPr/>
          <p:nvPr/>
        </p:nvSpPr>
        <p:spPr>
          <a:xfrm>
            <a:off x="4846320" y="3712464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846320" y="371246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750" dirty="0"/>
          </a:p>
        </p:txBody>
      </p:sp>
      <p:sp>
        <p:nvSpPr>
          <p:cNvPr id="37" name="Text 33"/>
          <p:cNvSpPr txBox="1"/>
          <p:nvPr/>
        </p:nvSpPr>
        <p:spPr>
          <a:xfrm>
            <a:off x="5468112" y="3694176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결제창을 거친 재승인 응답 · 실기기 푸시 검증, 화면 캡처</a:t>
            </a:r>
            <a:endParaRPr lang="en-US" sz="830" dirty="0"/>
          </a:p>
        </p:txBody>
      </p:sp>
      <p:sp>
        <p:nvSpPr>
          <p:cNvPr id="38" name="Text 34"/>
          <p:cNvSpPr txBox="1"/>
          <p:nvPr/>
        </p:nvSpPr>
        <p:spPr>
          <a:xfrm>
            <a:off x="411480" y="44348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완성 — 남은 것은 운영 환경 값과 인프라 구성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개선 과제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배포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1430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모니터링 · 오류 알림 구성, 실제 화면 캡처를 포트폴리오에 반영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20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기준표 DB화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1920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상수로 관리 중인 위험 기준(RiskThresholds)을 DB 기준표로 옮겨 기준금리 · HUG 기준 변경에 대응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48716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97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출시 준비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6974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푸시 실기기 검증, 다가구 · 토지 등기부 실제 샘플로 파서 추가 검증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26440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74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검토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34747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면책 문구와 등급 체계, 유료 변호사 매칭 구조(변호사법 제34조)를 공개 전 전문가 검토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</a:t>
            </a:r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011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Questions &amp; Answers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임채은   ·   github.com/chean0830/guard-project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Guard 포트폴리오</dc:title>
  <dc:subject>PptxGenJS Presentation</dc:subject>
  <dc:creator>임채은</dc:creator>
  <cp:lastModifiedBy>임채은</cp:lastModifiedBy>
  <cp:revision>1</cp:revision>
  <dcterms:created xsi:type="dcterms:W3CDTF">2026-10-15T07:26:35Z</dcterms:created>
  <dcterms:modified xsi:type="dcterms:W3CDTF">2026-10-15T07:26:35Z</dcterms:modified>
</cp:coreProperties>
</file>