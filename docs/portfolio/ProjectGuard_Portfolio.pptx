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c4e4f53f-6ff8-f0c0-3ec5-cd80b614c3aa}">
          <p14:sldIdLst>
            <p14:sldId id="256"/>
            <p14:sldId id="257"/>
          </p14:sldIdLst>
        </p14:section>
        <p14:section name="01 프로젝트 개요" id="{210ce4c3-3cfb-5256-0a16-cf3be75e65c8}">
          <p14:sldIdLst>
            <p14:sldId id="258"/>
            <p14:sldId id="259"/>
            <p14:sldId id="260"/>
            <p14:sldId id="261"/>
            <p14:sldId id="262"/>
          </p14:sldIdLst>
        </p14:section>
        <p14:section name="02 설계와 기술" id="{88a07baa-9f4b-afbe-c38e-529cbd7c4f48}">
          <p14:sldIdLst>
            <p14:sldId id="263"/>
            <p14:sldId id="264"/>
            <p14:sldId id="265"/>
            <p14:sldId id="266"/>
            <p14:sldId id="267"/>
          </p14:sldIdLst>
        </p14:section>
        <p14:section name="03 핵심 기능" id="{18e22851-35a3-b4d5-967f-3982cf093373}">
          <p14:sldIdLst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04 트러블슈팅" id="{c2bfdf96-2c22-01e5-e21e-1dbd484e867f}">
          <p14:sldIdLst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05 평가와 배포" id="{901d442e-3235-58af-fd6a-5e466e32c680}">
          <p14:sldIdLst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코드 줄 수</c:v>
                </c:pt>
              </c:strCache>
            </c:strRef>
          </c:tx>
          <c:spPr>
            <a:solidFill>
              <a:srgbClr val="F9731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8181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백엔드 (Spring)</c:v>
                  </c:pt>
                  <c:pt idx="1">
                    <c:v>앱 (Flutter)</c:v>
                  </c:pt>
                  <c:pt idx="2">
                    <c:v>웹 (Next.js)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11222</c:v>
                </c:pt>
                <c:pt idx="1">
                  <c:v>8617</c:v>
                </c:pt>
                <c:pt idx="2">
                  <c:v>8075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18181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2525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350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9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</a:t>
            </a:r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3444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계약하기 전,</a:t>
            </a:r>
            <a:endParaRPr lang="en-US" sz="25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등기부등본부터 확인하세요</a:t>
            </a:r>
            <a:endParaRPr lang="en-US" sz="2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5146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PERSONAL PROJECT PORTFOLIO</a:t>
            </a:r>
            <a:endParaRPr lang="en-US" sz="75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74320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등기부등본을 올리면 위험 신호를 근거와 함께 알려주는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전·월세 사기 예방 서비스 · Spring Boot · Next.js · Flutter</a:t>
            </a:r>
            <a:endParaRPr lang="en-US" sz="9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45262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2026.09.22 – 2026.10.15 개발 완료 · 10.16 배포 시작   |   임채은 · 1인 풀스택 개발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5715000" y="868680"/>
            <a:ext cx="2880360" cy="306324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97880" y="103327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결과</a:t>
            </a:r>
            <a:endParaRPr lang="en-US" sz="700" dirty="0"/>
          </a:p>
        </p:txBody>
      </p:sp>
      <p:sp>
        <p:nvSpPr>
          <p:cNvPr id="10" name="Text 7"/>
          <p:cNvSpPr txBox="1"/>
          <p:nvPr/>
        </p:nvSpPr>
        <p:spPr>
          <a:xfrm>
            <a:off x="5897880" y="1197864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신호 3건을 찾았어요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879592" y="1581912"/>
            <a:ext cx="2551176" cy="548640"/>
          </a:xfrm>
          <a:prstGeom prst="roundRect">
            <a:avLst>
              <a:gd name="adj" fmla="val 10000"/>
            </a:avLst>
          </a:prstGeom>
          <a:solidFill>
            <a:srgbClr val="FCFCFD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989320" y="1691640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9320" y="1691640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</a:t>
            </a:r>
            <a:endParaRPr lang="en-US" sz="700" dirty="0"/>
          </a:p>
        </p:txBody>
      </p:sp>
      <p:sp>
        <p:nvSpPr>
          <p:cNvPr id="14" name="Text 11"/>
          <p:cNvSpPr txBox="1"/>
          <p:nvPr/>
        </p:nvSpPr>
        <p:spPr>
          <a:xfrm>
            <a:off x="6464808" y="1673352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선순위 채권 비율 84%</a:t>
            </a:r>
            <a:endParaRPr lang="en-US" sz="85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1892808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권고 기준 · 국토부/금감원 안내자료</a:t>
            </a:r>
            <a:endParaRPr lang="en-US" sz="650" dirty="0"/>
          </a:p>
        </p:txBody>
      </p:sp>
      <p:sp>
        <p:nvSpPr>
          <p:cNvPr id="16" name="Shape 13"/>
          <p:cNvSpPr/>
          <p:nvPr/>
        </p:nvSpPr>
        <p:spPr>
          <a:xfrm>
            <a:off x="5879592" y="2240280"/>
            <a:ext cx="2551176" cy="548640"/>
          </a:xfrm>
          <a:prstGeom prst="roundRect">
            <a:avLst>
              <a:gd name="adj" fmla="val 10000"/>
            </a:avLst>
          </a:prstGeom>
          <a:solidFill>
            <a:srgbClr val="FCFCFD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89320" y="2350008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89320" y="2350008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주의</a:t>
            </a:r>
            <a:endParaRPr lang="en-US" sz="700" dirty="0"/>
          </a:p>
        </p:txBody>
      </p:sp>
      <p:sp>
        <p:nvSpPr>
          <p:cNvPr id="19" name="Text 16"/>
          <p:cNvSpPr txBox="1"/>
          <p:nvPr/>
        </p:nvSpPr>
        <p:spPr>
          <a:xfrm>
            <a:off x="6464808" y="2331720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계약서 주소 ≠ 등기부 주소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6464808" y="2551176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확인 · 등기부등본 표제부</a:t>
            </a:r>
            <a:endParaRPr lang="en-US" sz="650" dirty="0"/>
          </a:p>
        </p:txBody>
      </p:sp>
      <p:sp>
        <p:nvSpPr>
          <p:cNvPr id="21" name="Shape 18"/>
          <p:cNvSpPr/>
          <p:nvPr/>
        </p:nvSpPr>
        <p:spPr>
          <a:xfrm>
            <a:off x="5879592" y="2898648"/>
            <a:ext cx="2551176" cy="548640"/>
          </a:xfrm>
          <a:prstGeom prst="roundRect">
            <a:avLst>
              <a:gd name="adj" fmla="val 10000"/>
            </a:avLst>
          </a:prstGeom>
          <a:solidFill>
            <a:srgbClr val="FCFCFD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989320" y="3008376"/>
            <a:ext cx="384048" cy="182880"/>
          </a:xfrm>
          <a:prstGeom prst="roundRect">
            <a:avLst>
              <a:gd name="adj" fmla="val 25000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989320" y="3008376"/>
            <a:ext cx="3840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171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</a:t>
            </a:r>
            <a:endParaRPr lang="en-US" sz="700" dirty="0"/>
          </a:p>
        </p:txBody>
      </p:sp>
      <p:sp>
        <p:nvSpPr>
          <p:cNvPr id="24" name="Text 21"/>
          <p:cNvSpPr txBox="1"/>
          <p:nvPr/>
        </p:nvSpPr>
        <p:spPr>
          <a:xfrm>
            <a:off x="6464808" y="299008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소액임차인 최우선변제 대상</a:t>
            </a:r>
            <a:endParaRPr lang="en-US" sz="850" dirty="0"/>
          </a:p>
        </p:txBody>
      </p:sp>
      <p:sp>
        <p:nvSpPr>
          <p:cNvPr id="25" name="Text 22"/>
          <p:cNvSpPr txBox="1"/>
          <p:nvPr/>
        </p:nvSpPr>
        <p:spPr>
          <a:xfrm>
            <a:off x="6464808" y="3209544"/>
            <a:ext cx="1920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기준 · 주택임대차보호법 시행령</a:t>
            </a:r>
            <a:endParaRPr lang="en-US" sz="650" dirty="0"/>
          </a:p>
        </p:txBody>
      </p:sp>
      <p:sp>
        <p:nvSpPr>
          <p:cNvPr id="26" name="Text 23"/>
          <p:cNvSpPr txBox="1"/>
          <p:nvPr/>
        </p:nvSpPr>
        <p:spPr>
          <a:xfrm>
            <a:off x="5897880" y="3657600"/>
            <a:ext cx="2560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법률 조언이 아닌 참고용 정보입니다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PORTFOLIO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749040" y="11430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배경, 서비스 흐름, 개발 일정, 프로젝트 규모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161848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764792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76479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설계와 기술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49040" y="17647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스택, 시스템 아키텍처, 분석 파이프라인, 화면 구성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24028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38658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38658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749040" y="238658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판독, 위험 판단 엔진, 공공데이터, 상담·결제·보안·운영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2862072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00837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00837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트러블슈팅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749040" y="300837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표 인식, 조용한 설정 실패, 환경변수 오염, DB 스키마, 결제 결과 불확실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3483864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36301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363016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평가와 배포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749040" y="363016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성과, 배포 준비 현황, 다음 단계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4105656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개요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어려운 등기부등본을 대신 읽어주는 전·월세 사기 예방 서비스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기획 배경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등기부등본은 받았는데,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무엇이 위험한지 모릅니다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66928" y="2212848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3055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근저당·압류·말소 같은 용어가 어려워 위험 여부를 판단하기 힘듦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2596896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49808" y="2514600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선순위 채권이 보증금보다 큰지 직접 계산하기 어려움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66928" y="2980944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49808" y="2898648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보증금이 시세보다 비싼지 비교할 기준을 찾기 어려움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3429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처음 전·월세 계약을 하는 사회초년생·대학생이 가장 취약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394960" y="1097280"/>
            <a:ext cx="3337560" cy="2926080"/>
          </a:xfrm>
          <a:prstGeom prst="roundRect">
            <a:avLst>
              <a:gd name="adj" fmla="val 1875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0" y="1325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GUARD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1783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판독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1783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406640" y="178308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233172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어려운 서류를 대신 읽고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함께 알려주는 서비스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0" y="306324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판독 → 공공데이터 대조 → 위험 신호 안내,</a:t>
            </a:r>
            <a:endParaRPr lang="en-US" sz="8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필요하면 승인된 변호사 상담까지 연결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흐름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11480" y="105156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237744" cy="23774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50392" y="12070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5270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업로드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8013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또는 촬영 이미지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장 업로드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2304288" y="15544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2532888" y="105156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048" y="1188720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2971800" y="12070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14" name="Text 10"/>
          <p:cNvSpPr txBox="1"/>
          <p:nvPr/>
        </p:nvSpPr>
        <p:spPr>
          <a:xfrm>
            <a:off x="2670048" y="15270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판독</a:t>
            </a:r>
            <a:endParaRPr lang="en-US" sz="1100" dirty="0"/>
          </a:p>
        </p:txBody>
      </p:sp>
      <p:sp>
        <p:nvSpPr>
          <p:cNvPr id="15" name="Text 11"/>
          <p:cNvSpPr txBox="1"/>
          <p:nvPr/>
        </p:nvSpPr>
        <p:spPr>
          <a:xfrm>
            <a:off x="2670048" y="18013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PDFBox·Vision OCR로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내용 구조화</a:t>
            </a:r>
            <a:endParaRPr lang="en-US" sz="800" dirty="0"/>
          </a:p>
        </p:txBody>
      </p:sp>
      <p:sp>
        <p:nvSpPr>
          <p:cNvPr id="16" name="Text 12"/>
          <p:cNvSpPr txBox="1"/>
          <p:nvPr/>
        </p:nvSpPr>
        <p:spPr>
          <a:xfrm>
            <a:off x="4425696" y="15544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654296" y="105156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1456" y="1188720"/>
            <a:ext cx="237744" cy="23774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5093208" y="12070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20" name="Text 15"/>
          <p:cNvSpPr txBox="1"/>
          <p:nvPr/>
        </p:nvSpPr>
        <p:spPr>
          <a:xfrm>
            <a:off x="4791456" y="15270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대조</a:t>
            </a:r>
            <a:endParaRPr lang="en-US" sz="1100" dirty="0"/>
          </a:p>
        </p:txBody>
      </p:sp>
      <p:sp>
        <p:nvSpPr>
          <p:cNvPr id="21" name="Text 16"/>
          <p:cNvSpPr txBox="1"/>
          <p:nvPr/>
        </p:nvSpPr>
        <p:spPr>
          <a:xfrm>
            <a:off x="4791456" y="18013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실거래가·건축물대장·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공시가격과 비교</a:t>
            </a:r>
            <a:endParaRPr lang="en-US" sz="800" dirty="0"/>
          </a:p>
        </p:txBody>
      </p:sp>
      <p:sp>
        <p:nvSpPr>
          <p:cNvPr id="22" name="Text 17"/>
          <p:cNvSpPr txBox="1"/>
          <p:nvPr/>
        </p:nvSpPr>
        <p:spPr>
          <a:xfrm>
            <a:off x="6547104" y="155448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18"/>
          <p:cNvSpPr/>
          <p:nvPr/>
        </p:nvSpPr>
        <p:spPr>
          <a:xfrm>
            <a:off x="6775704" y="1051560"/>
            <a:ext cx="1874520" cy="1325880"/>
          </a:xfrm>
          <a:prstGeom prst="roundRect">
            <a:avLst>
              <a:gd name="adj" fmla="val 4138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864" y="1188720"/>
            <a:ext cx="237744" cy="237744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7214616" y="120700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26" name="Text 20"/>
          <p:cNvSpPr txBox="1"/>
          <p:nvPr/>
        </p:nvSpPr>
        <p:spPr>
          <a:xfrm>
            <a:off x="6912864" y="1527048"/>
            <a:ext cx="1600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신호 리포트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6912864" y="1801368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유형과 함께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카드·체크리스트</a:t>
            </a:r>
            <a:endParaRPr lang="en-US" sz="800" dirty="0"/>
          </a:p>
        </p:txBody>
      </p:sp>
      <p:sp>
        <p:nvSpPr>
          <p:cNvPr id="28" name="Text 22"/>
          <p:cNvSpPr txBox="1"/>
          <p:nvPr/>
        </p:nvSpPr>
        <p:spPr>
          <a:xfrm>
            <a:off x="411480" y="260604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함께 제공하는 기능</a:t>
            </a:r>
            <a:endParaRPr lang="en-US" sz="800" dirty="0"/>
          </a:p>
        </p:txBody>
      </p:sp>
      <p:sp>
        <p:nvSpPr>
          <p:cNvPr id="29" name="Shape 23"/>
          <p:cNvSpPr/>
          <p:nvPr/>
        </p:nvSpPr>
        <p:spPr>
          <a:xfrm>
            <a:off x="411480" y="2852928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017520"/>
            <a:ext cx="292608" cy="292608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005840" y="29900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1:1 상담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1005840" y="322783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승인을 거친 변호사와 실시간 채팅</a:t>
            </a:r>
            <a:endParaRPr lang="en-US" sz="800" dirty="0"/>
          </a:p>
        </p:txBody>
      </p:sp>
      <p:sp>
        <p:nvSpPr>
          <p:cNvPr id="33" name="Shape 26"/>
          <p:cNvSpPr/>
          <p:nvPr/>
        </p:nvSpPr>
        <p:spPr>
          <a:xfrm>
            <a:off x="3218688" y="2852928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017520"/>
            <a:ext cx="292608" cy="29260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3813048" y="29900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 체크리스트</a:t>
            </a:r>
            <a:endParaRPr lang="en-US" sz="1000" dirty="0"/>
          </a:p>
        </p:txBody>
      </p:sp>
      <p:sp>
        <p:nvSpPr>
          <p:cNvPr id="36" name="Text 28"/>
          <p:cNvSpPr txBox="1"/>
          <p:nvPr/>
        </p:nvSpPr>
        <p:spPr>
          <a:xfrm>
            <a:off x="3813048" y="322783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서류로 알 수 없는 확인 항목을 계약 형태별로 안내</a:t>
            </a:r>
            <a:endParaRPr lang="en-US" sz="800" dirty="0"/>
          </a:p>
        </p:txBody>
      </p:sp>
      <p:sp>
        <p:nvSpPr>
          <p:cNvPr id="37" name="Shape 29"/>
          <p:cNvSpPr/>
          <p:nvPr/>
        </p:nvSpPr>
        <p:spPr>
          <a:xfrm>
            <a:off x="6025896" y="2852928"/>
            <a:ext cx="265176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90488" y="3017520"/>
            <a:ext cx="292608" cy="292608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6620256" y="2990088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웹·앱 동시 지원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6620256" y="3227832"/>
            <a:ext cx="1965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웹과 Flutter 앱이 같은 API를 사용</a:t>
            </a:r>
            <a:endParaRPr lang="en-US" sz="800" dirty="0"/>
          </a:p>
        </p:txBody>
      </p:sp>
      <p:sp>
        <p:nvSpPr>
          <p:cNvPr id="41" name="Text 32"/>
          <p:cNvSpPr txBox="1"/>
          <p:nvPr/>
        </p:nvSpPr>
        <p:spPr>
          <a:xfrm>
            <a:off x="411480" y="402336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한 번으로 계약 전 확인 과정을 끝까지 연결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개요와 일정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136892" y="329184"/>
            <a:ext cx="1595628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6892" y="329184"/>
            <a:ext cx="15956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트렁크 기반 · PR 단위 개발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83210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107899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24일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1481328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기간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2491740" y="107899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114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491740" y="1481328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커밋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572000" y="107899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15개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1481328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판단 규칙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6652260" y="1078992"/>
            <a:ext cx="20802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328개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652260" y="1481328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테스트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097280" y="2212848"/>
            <a:ext cx="6858000" cy="0"/>
          </a:xfrm>
          <a:prstGeom prst="line">
            <a:avLst/>
          </a:prstGeom>
          <a:noFill/>
          <a:ln w="25400">
            <a:solidFill>
              <a:srgbClr val="FED7A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1498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09.22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엔진 기반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Git·브랜치 전략 수립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PDFBox 등기부 파싱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판단 규칙 엔진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 시세 조회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238658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8288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09.29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18288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서비스 완성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18288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API·OCR 연동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건축물대장·e2e 테스트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로그인·소셜 로그인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승인·상담</a:t>
            </a:r>
            <a:endParaRPr lang="en-US" sz="700" dirty="0"/>
          </a:p>
        </p:txBody>
      </p:sp>
      <p:sp>
        <p:nvSpPr>
          <p:cNvPr id="25" name="Shape 23"/>
          <p:cNvSpPr/>
          <p:nvPr/>
        </p:nvSpPr>
        <p:spPr>
          <a:xfrm>
            <a:off x="375818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2004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09.30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32004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상담·결제·보안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신고·정지·차단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실시간 채팅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결제·환불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인증·계정 잠금</a:t>
            </a:r>
            <a:endParaRPr lang="en-US" sz="700" dirty="0"/>
          </a:p>
        </p:txBody>
      </p:sp>
      <p:sp>
        <p:nvSpPr>
          <p:cNvPr id="29" name="Shape 27"/>
          <p:cNvSpPr/>
          <p:nvPr/>
        </p:nvSpPr>
        <p:spPr>
          <a:xfrm>
            <a:off x="512978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10.01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앱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5720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회원·변호사·관리자 앱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FCM 앱 푸시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PKCE 소셜 로그인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문의함</a:t>
            </a:r>
            <a:endParaRPr lang="en-US" sz="700" dirty="0"/>
          </a:p>
        </p:txBody>
      </p:sp>
      <p:sp>
        <p:nvSpPr>
          <p:cNvPr id="33" name="Shape 31"/>
          <p:cNvSpPr/>
          <p:nvPr/>
        </p:nvSpPr>
        <p:spPr>
          <a:xfrm>
            <a:off x="6501384" y="2130552"/>
            <a:ext cx="164592" cy="164592"/>
          </a:xfrm>
          <a:prstGeom prst="ellipse">
            <a:avLst/>
          </a:prstGeom>
          <a:solidFill>
            <a:srgbClr val="F9731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9436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10.02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9436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범위 확장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9436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원룸·다가구 조건부 분석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토지 등기부 함께 분석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근린생활시설 감지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HUG 반환보증 추정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7872984" y="2130552"/>
            <a:ext cx="164592" cy="164592"/>
          </a:xfrm>
          <a:prstGeom prst="ellipse">
            <a:avLst/>
          </a:prstGeom>
          <a:solidFill>
            <a:srgbClr val="18181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0" y="2377440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10.15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7315200" y="256032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완료</a:t>
            </a:r>
            <a:endParaRPr lang="en-US" sz="9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0" y="283464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결과 불확실 처리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선점·환원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해시 저장</a:t>
            </a:r>
            <a:endParaRPr lang="en-US" sz="7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CI</a:t>
            </a:r>
            <a:endParaRPr lang="en-US" sz="700" dirty="0"/>
          </a:p>
        </p:txBody>
      </p:sp>
      <p:sp>
        <p:nvSpPr>
          <p:cNvPr id="41" name="Text 39"/>
          <p:cNvSpPr txBox="1"/>
          <p:nvPr/>
        </p:nvSpPr>
        <p:spPr>
          <a:xfrm>
            <a:off x="411480" y="416052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기능 단위 feature 브랜치 → PR → main, 결정 사항 54건을 문서로 기록 · GitHub Actions CI로 자동 검사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규모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52360" y="329184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52360" y="32918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1인 · 24일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OVERVIEW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663440" cy="31546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117043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작성한 코드  약 2.8만 줄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1417320"/>
            <a:ext cx="4206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코드 제외 · Java / TypeScript / Dart</a:t>
            </a:r>
            <a:endParaRPr lang="en-US" sz="75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" y="1691640"/>
          <a:ext cx="4389120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1" name="Shape 8"/>
          <p:cNvSpPr/>
          <p:nvPr/>
        </p:nvSpPr>
        <p:spPr>
          <a:xfrm>
            <a:off x="5303520" y="1005840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303520" y="117043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82개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303520" y="15727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API 엔드포인트</a:t>
            </a:r>
            <a:endParaRPr lang="en-US" sz="750" dirty="0"/>
          </a:p>
        </p:txBody>
      </p:sp>
      <p:sp>
        <p:nvSpPr>
          <p:cNvPr id="14" name="Shape 11"/>
          <p:cNvSpPr/>
          <p:nvPr/>
        </p:nvSpPr>
        <p:spPr>
          <a:xfrm>
            <a:off x="7040880" y="1005840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040880" y="117043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18개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7040880" y="1572768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엔티티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5303520" y="2075688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03520" y="22402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22개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0" y="26426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화면 (Next.js)</a:t>
            </a:r>
            <a:endParaRPr lang="en-US" sz="750" dirty="0"/>
          </a:p>
        </p:txBody>
      </p:sp>
      <p:sp>
        <p:nvSpPr>
          <p:cNvPr id="20" name="Shape 17"/>
          <p:cNvSpPr/>
          <p:nvPr/>
        </p:nvSpPr>
        <p:spPr>
          <a:xfrm>
            <a:off x="7040880" y="2075688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040880" y="2240280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25개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7040880" y="26426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화면 (Flutter)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5303520" y="3145536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303520" y="33101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328개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303520" y="371246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테스트</a:t>
            </a:r>
            <a:endParaRPr lang="en-US" sz="750" dirty="0"/>
          </a:p>
        </p:txBody>
      </p:sp>
      <p:sp>
        <p:nvSpPr>
          <p:cNvPr id="26" name="Shape 23"/>
          <p:cNvSpPr/>
          <p:nvPr/>
        </p:nvSpPr>
        <p:spPr>
          <a:xfrm>
            <a:off x="7040880" y="3145536"/>
            <a:ext cx="160020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040880" y="3310128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54건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7040880" y="3712464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 설계 결정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411480" y="434340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34340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328개 = 백엔드 299 · Playwright e2e 22 · Flutter 7 — GitHub Actions CI로 자동 실행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설계와 기술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로직은 Spring 서버 한 곳에 — 웹과 앱은 같은 API를 사용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 스택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1965960" cy="35204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1872" y="11430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11480" y="14813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BACKEND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11480" y="16824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엔진 · API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94360" y="196596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25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94360" y="2368296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94360" y="23682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4.1.1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94360" y="277063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94360" y="27706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· Hibernate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594360" y="317296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94360" y="3172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94360" y="357530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4360" y="357530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Apache PDFBox 3.0.3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94360" y="397764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94360" y="39776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 → PostgreSQL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2523744" y="1005840"/>
            <a:ext cx="1965960" cy="35204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4136" y="1143000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523744" y="14813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2523744" y="16824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· 서버 프록시</a:t>
            </a:r>
            <a:endParaRPr lang="en-US" sz="700" dirty="0"/>
          </a:p>
        </p:txBody>
      </p:sp>
      <p:sp>
        <p:nvSpPr>
          <p:cNvPr id="25" name="Shape 21"/>
          <p:cNvSpPr/>
          <p:nvPr/>
        </p:nvSpPr>
        <p:spPr>
          <a:xfrm>
            <a:off x="2706624" y="196596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706624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16.4.0</a:t>
            </a:r>
            <a:endParaRPr lang="en-US" sz="850" dirty="0"/>
          </a:p>
        </p:txBody>
      </p:sp>
      <p:sp>
        <p:nvSpPr>
          <p:cNvPr id="27" name="Shape 23"/>
          <p:cNvSpPr/>
          <p:nvPr/>
        </p:nvSpPr>
        <p:spPr>
          <a:xfrm>
            <a:off x="2706624" y="2368296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706624" y="23682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React 19.2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2706624" y="277063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2706624" y="27706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TypeScript 5</a:t>
            </a:r>
            <a:endParaRPr lang="en-US" sz="850" dirty="0"/>
          </a:p>
        </p:txBody>
      </p:sp>
      <p:sp>
        <p:nvSpPr>
          <p:cNvPr id="31" name="Shape 27"/>
          <p:cNvSpPr/>
          <p:nvPr/>
        </p:nvSpPr>
        <p:spPr>
          <a:xfrm>
            <a:off x="2706624" y="317296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2706624" y="3172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Tailwind CSS 4</a:t>
            </a:r>
            <a:endParaRPr lang="en-US" sz="850" dirty="0"/>
          </a:p>
        </p:txBody>
      </p:sp>
      <p:sp>
        <p:nvSpPr>
          <p:cNvPr id="33" name="Shape 29"/>
          <p:cNvSpPr/>
          <p:nvPr/>
        </p:nvSpPr>
        <p:spPr>
          <a:xfrm>
            <a:off x="2706624" y="357530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2706624" y="357530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Playwright 1.63</a:t>
            </a:r>
            <a:endParaRPr lang="en-US" sz="850" dirty="0"/>
          </a:p>
        </p:txBody>
      </p:sp>
      <p:sp>
        <p:nvSpPr>
          <p:cNvPr id="35" name="Shape 31"/>
          <p:cNvSpPr/>
          <p:nvPr/>
        </p:nvSpPr>
        <p:spPr>
          <a:xfrm>
            <a:off x="2706624" y="397764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2706624" y="39776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CI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4636008" y="1005840"/>
            <a:ext cx="1965960" cy="35204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143000"/>
            <a:ext cx="274320" cy="27432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4636008" y="14813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</a:t>
            </a:r>
            <a:endParaRPr lang="en-US" sz="900" dirty="0"/>
          </a:p>
        </p:txBody>
      </p:sp>
      <p:sp>
        <p:nvSpPr>
          <p:cNvPr id="40" name="Text 35"/>
          <p:cNvSpPr txBox="1"/>
          <p:nvPr/>
        </p:nvSpPr>
        <p:spPr>
          <a:xfrm>
            <a:off x="4636008" y="16824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 · Android</a:t>
            </a:r>
            <a:endParaRPr lang="en-US" sz="700" dirty="0"/>
          </a:p>
        </p:txBody>
      </p:sp>
      <p:sp>
        <p:nvSpPr>
          <p:cNvPr id="41" name="Shape 36"/>
          <p:cNvSpPr/>
          <p:nvPr/>
        </p:nvSpPr>
        <p:spPr>
          <a:xfrm>
            <a:off x="4818888" y="196596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2" name="Text 37"/>
          <p:cNvSpPr txBox="1"/>
          <p:nvPr/>
        </p:nvSpPr>
        <p:spPr>
          <a:xfrm>
            <a:off x="4818888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(Dart 3.13)</a:t>
            </a:r>
            <a:endParaRPr lang="en-US" sz="850" dirty="0"/>
          </a:p>
        </p:txBody>
      </p:sp>
      <p:sp>
        <p:nvSpPr>
          <p:cNvPr id="43" name="Shape 38"/>
          <p:cNvSpPr/>
          <p:nvPr/>
        </p:nvSpPr>
        <p:spPr>
          <a:xfrm>
            <a:off x="4818888" y="2368296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4" name="Text 39"/>
          <p:cNvSpPr txBox="1"/>
          <p:nvPr/>
        </p:nvSpPr>
        <p:spPr>
          <a:xfrm>
            <a:off x="4818888" y="23682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FCM 앱 푸시</a:t>
            </a:r>
            <a:endParaRPr lang="en-US" sz="850" dirty="0"/>
          </a:p>
        </p:txBody>
      </p:sp>
      <p:sp>
        <p:nvSpPr>
          <p:cNvPr id="45" name="Shape 40"/>
          <p:cNvSpPr/>
          <p:nvPr/>
        </p:nvSpPr>
        <p:spPr>
          <a:xfrm>
            <a:off x="4818888" y="277063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4818888" y="27706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Secure Storage</a:t>
            </a:r>
            <a:endParaRPr lang="en-US" sz="850" dirty="0"/>
          </a:p>
        </p:txBody>
      </p:sp>
      <p:sp>
        <p:nvSpPr>
          <p:cNvPr id="47" name="Shape 42"/>
          <p:cNvSpPr/>
          <p:nvPr/>
        </p:nvSpPr>
        <p:spPr>
          <a:xfrm>
            <a:off x="4818888" y="317296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4818888" y="3172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WebView 결제</a:t>
            </a:r>
            <a:endParaRPr lang="en-US" sz="850" dirty="0"/>
          </a:p>
        </p:txBody>
      </p:sp>
      <p:sp>
        <p:nvSpPr>
          <p:cNvPr id="49" name="Shape 44"/>
          <p:cNvSpPr/>
          <p:nvPr/>
        </p:nvSpPr>
        <p:spPr>
          <a:xfrm>
            <a:off x="4818888" y="357530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50" name="Text 45"/>
          <p:cNvSpPr txBox="1"/>
          <p:nvPr/>
        </p:nvSpPr>
        <p:spPr>
          <a:xfrm>
            <a:off x="4818888" y="357530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PKCE 로그인</a:t>
            </a:r>
            <a:endParaRPr lang="en-US" sz="850" dirty="0"/>
          </a:p>
        </p:txBody>
      </p:sp>
      <p:sp>
        <p:nvSpPr>
          <p:cNvPr id="51" name="Shape 46"/>
          <p:cNvSpPr/>
          <p:nvPr/>
        </p:nvSpPr>
        <p:spPr>
          <a:xfrm>
            <a:off x="6748272" y="1005840"/>
            <a:ext cx="1965960" cy="352044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5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8664" y="1143000"/>
            <a:ext cx="274320" cy="274320"/>
          </a:xfrm>
          <a:prstGeom prst="rect">
            <a:avLst/>
          </a:prstGeom>
        </p:spPr>
      </p:pic>
      <p:sp>
        <p:nvSpPr>
          <p:cNvPr id="53" name="Text 47"/>
          <p:cNvSpPr txBox="1"/>
          <p:nvPr/>
        </p:nvSpPr>
        <p:spPr>
          <a:xfrm>
            <a:off x="6748272" y="1481328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EXTERNAL</a:t>
            </a:r>
            <a:endParaRPr lang="en-US" sz="900" dirty="0"/>
          </a:p>
        </p:txBody>
      </p:sp>
      <p:sp>
        <p:nvSpPr>
          <p:cNvPr id="54" name="Text 48"/>
          <p:cNvSpPr txBox="1"/>
          <p:nvPr/>
        </p:nvSpPr>
        <p:spPr>
          <a:xfrm>
            <a:off x="6748272" y="1682496"/>
            <a:ext cx="1965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연동</a:t>
            </a:r>
            <a:endParaRPr lang="en-US" sz="700" dirty="0"/>
          </a:p>
        </p:txBody>
      </p:sp>
      <p:sp>
        <p:nvSpPr>
          <p:cNvPr id="55" name="Shape 49"/>
          <p:cNvSpPr/>
          <p:nvPr/>
        </p:nvSpPr>
        <p:spPr>
          <a:xfrm>
            <a:off x="6931152" y="196596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56" name="Text 50"/>
          <p:cNvSpPr txBox="1"/>
          <p:nvPr/>
        </p:nvSpPr>
        <p:spPr>
          <a:xfrm>
            <a:off x="6931152" y="196596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Cloud Vision</a:t>
            </a:r>
            <a:endParaRPr lang="en-US" sz="850" dirty="0"/>
          </a:p>
        </p:txBody>
      </p:sp>
      <p:sp>
        <p:nvSpPr>
          <p:cNvPr id="57" name="Shape 51"/>
          <p:cNvSpPr/>
          <p:nvPr/>
        </p:nvSpPr>
        <p:spPr>
          <a:xfrm>
            <a:off x="6931152" y="2368296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58" name="Text 52"/>
          <p:cNvSpPr txBox="1"/>
          <p:nvPr/>
        </p:nvSpPr>
        <p:spPr>
          <a:xfrm>
            <a:off x="6931152" y="2368296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국토부 실거래가</a:t>
            </a:r>
            <a:endParaRPr lang="en-US" sz="850" dirty="0"/>
          </a:p>
        </p:txBody>
      </p:sp>
      <p:sp>
        <p:nvSpPr>
          <p:cNvPr id="59" name="Shape 53"/>
          <p:cNvSpPr/>
          <p:nvPr/>
        </p:nvSpPr>
        <p:spPr>
          <a:xfrm>
            <a:off x="6931152" y="2770632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60" name="Text 54"/>
          <p:cNvSpPr txBox="1"/>
          <p:nvPr/>
        </p:nvSpPr>
        <p:spPr>
          <a:xfrm>
            <a:off x="6931152" y="2770632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건축HUB 건축물대장</a:t>
            </a:r>
            <a:endParaRPr lang="en-US" sz="850" dirty="0"/>
          </a:p>
        </p:txBody>
      </p:sp>
      <p:sp>
        <p:nvSpPr>
          <p:cNvPr id="61" name="Shape 55"/>
          <p:cNvSpPr/>
          <p:nvPr/>
        </p:nvSpPr>
        <p:spPr>
          <a:xfrm>
            <a:off x="6931152" y="3172968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62" name="Text 56"/>
          <p:cNvSpPr txBox="1"/>
          <p:nvPr/>
        </p:nvSpPr>
        <p:spPr>
          <a:xfrm>
            <a:off x="6931152" y="317296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도로명주소 · 브이월드</a:t>
            </a:r>
            <a:endParaRPr lang="en-US" sz="850" dirty="0"/>
          </a:p>
        </p:txBody>
      </p:sp>
      <p:sp>
        <p:nvSpPr>
          <p:cNvPr id="63" name="Shape 57"/>
          <p:cNvSpPr/>
          <p:nvPr/>
        </p:nvSpPr>
        <p:spPr>
          <a:xfrm>
            <a:off x="6931152" y="3575304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64" name="Text 58"/>
          <p:cNvSpPr txBox="1"/>
          <p:nvPr/>
        </p:nvSpPr>
        <p:spPr>
          <a:xfrm>
            <a:off x="6931152" y="3575304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토스페이먼츠</a:t>
            </a:r>
            <a:endParaRPr lang="en-US" sz="850" dirty="0"/>
          </a:p>
        </p:txBody>
      </p:sp>
      <p:sp>
        <p:nvSpPr>
          <p:cNvPr id="65" name="Shape 59"/>
          <p:cNvSpPr/>
          <p:nvPr/>
        </p:nvSpPr>
        <p:spPr>
          <a:xfrm>
            <a:off x="6931152" y="3977640"/>
            <a:ext cx="1600200" cy="310896"/>
          </a:xfrm>
          <a:prstGeom prst="roundRect">
            <a:avLst>
              <a:gd name="adj" fmla="val 23529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66" name="Text 60"/>
          <p:cNvSpPr txBox="1"/>
          <p:nvPr/>
        </p:nvSpPr>
        <p:spPr>
          <a:xfrm>
            <a:off x="6931152" y="39776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구글·카카오·네이버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아키텍처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903720" y="329184"/>
            <a:ext cx="182880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03720" y="3291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API 서버 · 멀티 클라이언트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78308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20700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Web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146304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Server Action · Route Handler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httpOnly 세션 쿠키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11480" y="2880360"/>
            <a:ext cx="178308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9900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Flutter App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24612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 · Android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Secure Storage · FCM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2212848" y="141732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HTTPS · REST</a:t>
            </a:r>
            <a:endParaRPr lang="en-US" sz="650" dirty="0"/>
          </a:p>
        </p:txBody>
      </p:sp>
      <p:sp>
        <p:nvSpPr>
          <p:cNvPr id="14" name="Text 12"/>
          <p:cNvSpPr txBox="1"/>
          <p:nvPr/>
        </p:nvSpPr>
        <p:spPr>
          <a:xfrm>
            <a:off x="2212848" y="320040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 · WS</a:t>
            </a:r>
            <a:endParaRPr lang="en-US" sz="650" dirty="0"/>
          </a:p>
        </p:txBody>
      </p:sp>
      <p:sp>
        <p:nvSpPr>
          <p:cNvPr id="15" name="Shape 13"/>
          <p:cNvSpPr/>
          <p:nvPr/>
        </p:nvSpPr>
        <p:spPr>
          <a:xfrm>
            <a:off x="2212848" y="1600200"/>
            <a:ext cx="777240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212848" y="3383280"/>
            <a:ext cx="777240" cy="0"/>
          </a:xfrm>
          <a:prstGeom prst="line">
            <a:avLst/>
          </a:prstGeom>
          <a:noFill/>
          <a:ln w="15875">
            <a:solidFill>
              <a:srgbClr val="F97316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017520" y="960120"/>
            <a:ext cx="3108960" cy="3108960"/>
          </a:xfrm>
          <a:prstGeom prst="roundRect">
            <a:avLst>
              <a:gd name="adj" fmla="val 1765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200400" y="107899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Backend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200400" y="13167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Java 25 · REST + WebSocket · 82개 API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182112" y="1627632"/>
            <a:ext cx="1371600" cy="1024128"/>
          </a:xfrm>
          <a:prstGeom prst="roundRect">
            <a:avLst>
              <a:gd name="adj" fmla="val 5357"/>
            </a:avLst>
          </a:prstGeom>
          <a:solidFill>
            <a:srgbClr val="232326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291840" y="17373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엔진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197510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registry · risk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21945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PDF/OCR 파싱 · 규칙 15개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4663440" y="1627632"/>
            <a:ext cx="1371600" cy="1024128"/>
          </a:xfrm>
          <a:prstGeom prst="roundRect">
            <a:avLst>
              <a:gd name="adj" fmla="val 5357"/>
            </a:avLst>
          </a:prstGeom>
          <a:solidFill>
            <a:srgbClr val="232326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773168" y="1737360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연동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4773168" y="1975104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market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4773168" y="219456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· 건축물대장 · 공시가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3182112" y="2798064"/>
            <a:ext cx="1371600" cy="1024128"/>
          </a:xfrm>
          <a:prstGeom prst="roundRect">
            <a:avLst>
              <a:gd name="adj" fmla="val 5357"/>
            </a:avLst>
          </a:prstGeom>
          <a:solidFill>
            <a:srgbClr val="232326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291840" y="2907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 · 관리자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291840" y="314553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auth · lawyer · admin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3291840" y="33649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토큰 · 인터셉터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4663440" y="2798064"/>
            <a:ext cx="1371600" cy="1024128"/>
          </a:xfrm>
          <a:prstGeom prst="roundRect">
            <a:avLst>
              <a:gd name="adj" fmla="val 5357"/>
            </a:avLst>
          </a:prstGeom>
          <a:solidFill>
            <a:srgbClr val="232326"/>
          </a:solidFill>
          <a:ln w="9525">
            <a:solidFill>
              <a:srgbClr val="3F3F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773168" y="2907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· 결제 · 알림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4773168" y="3145536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consultation · payment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773168" y="336499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· Toss · Push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6144768" y="1463040"/>
            <a:ext cx="548640" cy="0"/>
          </a:xfrm>
          <a:prstGeom prst="line">
            <a:avLst/>
          </a:prstGeom>
          <a:noFill/>
          <a:ln w="12700">
            <a:solidFill>
              <a:srgbClr val="8A8A93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6144768" y="3017520"/>
            <a:ext cx="548640" cy="0"/>
          </a:xfrm>
          <a:prstGeom prst="line">
            <a:avLst/>
          </a:prstGeom>
          <a:noFill/>
          <a:ln w="12700">
            <a:solidFill>
              <a:srgbClr val="8A8A93"/>
            </a:solidFill>
            <a:prstDash val="solid"/>
            <a:tailEnd type="triangle"/>
          </a:ln>
        </p:spPr>
      </p:sp>
      <p:sp>
        <p:nvSpPr>
          <p:cNvPr id="38" name="Text 36"/>
          <p:cNvSpPr txBox="1"/>
          <p:nvPr/>
        </p:nvSpPr>
        <p:spPr>
          <a:xfrm>
            <a:off x="6144768" y="126187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</a:t>
            </a:r>
            <a:endParaRPr lang="en-US" sz="650" dirty="0"/>
          </a:p>
        </p:txBody>
      </p:sp>
      <p:sp>
        <p:nvSpPr>
          <p:cNvPr id="39" name="Text 37"/>
          <p:cNvSpPr txBox="1"/>
          <p:nvPr/>
        </p:nvSpPr>
        <p:spPr>
          <a:xfrm>
            <a:off x="6144768" y="281635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RestClient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6720840" y="109728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0" y="120700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 → PostgreSQL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0" y="14447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엔티티 18개 · 파일 기반 개발 DB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시 PostgreSQL 전환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6720840" y="2148840"/>
            <a:ext cx="2011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0" y="2258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External APIs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6858000" y="251460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Cloud Vision (OCR)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국토부 실거래가 · 건축HUB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도로명주소 · 브이월드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토스페이먼츠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FCM · Web Push · SMTP</a:t>
            </a:r>
            <a:endParaRPr lang="en-US" sz="75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· Kakao · Naver</a:t>
            </a:r>
            <a:endParaRPr lang="en-US" sz="750" dirty="0"/>
          </a:p>
        </p:txBody>
      </p:sp>
      <p:sp>
        <p:nvSpPr>
          <p:cNvPr id="46" name="Text 44"/>
          <p:cNvSpPr txBox="1"/>
          <p:nvPr/>
        </p:nvSpPr>
        <p:spPr>
          <a:xfrm>
            <a:off x="411480" y="43434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규칙이 바뀌면 서버만 수정 — 웹·앱에 동시 반영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분석 파이프라인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136892" y="329184"/>
            <a:ext cx="1595628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6892" y="329184"/>
            <a:ext cx="15956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/api/analyze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960120"/>
            <a:ext cx="8321040" cy="329184"/>
          </a:xfrm>
          <a:prstGeom prst="roundRect">
            <a:avLst>
              <a:gd name="adj" fmla="val 16667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960120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/api/analyze  </a:t>
            </a:r>
            <a:pPr indent="0" marL="0">
              <a:buNone/>
            </a:pPr>
            <a:r>
              <a:rPr lang="en-US" sz="800" dirty="0">
                <a:solidFill>
                  <a:srgbClr val="C4C4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multipart/form-data · files[] · address · deposit · monthlyRent · contractType · propertyType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11480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50392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1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수신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5장 · PDF 30쪽까지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Content-Type으로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판독 경로 분기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1938528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2112264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424" y="1600200"/>
            <a:ext cx="237744" cy="237744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2551176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2</a:t>
            </a:r>
            <a:endParaRPr lang="en-US" sz="800" dirty="0"/>
          </a:p>
        </p:txBody>
      </p:sp>
      <p:sp>
        <p:nvSpPr>
          <p:cNvPr id="18" name="Text 14"/>
          <p:cNvSpPr txBox="1"/>
          <p:nvPr/>
        </p:nvSpPr>
        <p:spPr>
          <a:xfrm>
            <a:off x="2249424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텍스트 추출</a:t>
            </a:r>
            <a:endParaRPr lang="en-US" sz="1100" dirty="0"/>
          </a:p>
        </p:txBody>
      </p:sp>
      <p:sp>
        <p:nvSpPr>
          <p:cNvPr id="19" name="Text 15"/>
          <p:cNvSpPr txBox="1"/>
          <p:nvPr/>
        </p:nvSpPr>
        <p:spPr>
          <a:xfrm>
            <a:off x="2249424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→ PDFBox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 → Vision OCR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결과 정규화</a:t>
            </a:r>
            <a:endParaRPr lang="en-US" sz="800" dirty="0"/>
          </a:p>
        </p:txBody>
      </p:sp>
      <p:sp>
        <p:nvSpPr>
          <p:cNvPr id="20" name="Text 16"/>
          <p:cNvSpPr txBox="1"/>
          <p:nvPr/>
        </p:nvSpPr>
        <p:spPr>
          <a:xfrm>
            <a:off x="3639312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3813048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8" y="1600200"/>
            <a:ext cx="237744" cy="237744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4251960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3</a:t>
            </a:r>
            <a:endParaRPr lang="en-US" sz="800" dirty="0"/>
          </a:p>
        </p:txBody>
      </p:sp>
      <p:sp>
        <p:nvSpPr>
          <p:cNvPr id="24" name="Text 19"/>
          <p:cNvSpPr txBox="1"/>
          <p:nvPr/>
        </p:nvSpPr>
        <p:spPr>
          <a:xfrm>
            <a:off x="3950208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파싱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3950208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표제부·갑구·을구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근저당·압류·말소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종류 판별</a:t>
            </a:r>
            <a:endParaRPr lang="en-US" sz="800" dirty="0"/>
          </a:p>
        </p:txBody>
      </p:sp>
      <p:sp>
        <p:nvSpPr>
          <p:cNvPr id="26" name="Text 21"/>
          <p:cNvSpPr txBox="1"/>
          <p:nvPr/>
        </p:nvSpPr>
        <p:spPr>
          <a:xfrm>
            <a:off x="5340096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5513832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0992" y="1600200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5952744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4</a:t>
            </a:r>
            <a:endParaRPr lang="en-US" sz="800" dirty="0"/>
          </a:p>
        </p:txBody>
      </p:sp>
      <p:sp>
        <p:nvSpPr>
          <p:cNvPr id="30" name="Text 24"/>
          <p:cNvSpPr txBox="1"/>
          <p:nvPr/>
        </p:nvSpPr>
        <p:spPr>
          <a:xfrm>
            <a:off x="5650992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조회</a:t>
            </a:r>
            <a:endParaRPr lang="en-US" sz="1100" dirty="0"/>
          </a:p>
        </p:txBody>
      </p:sp>
      <p:sp>
        <p:nvSpPr>
          <p:cNvPr id="31" name="Text 25"/>
          <p:cNvSpPr txBox="1"/>
          <p:nvPr/>
        </p:nvSpPr>
        <p:spPr>
          <a:xfrm>
            <a:off x="5650992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→ 법정동코드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 시세 매칭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건축물대장·공시가격</a:t>
            </a:r>
            <a:endParaRPr lang="en-US" sz="800" dirty="0"/>
          </a:p>
        </p:txBody>
      </p:sp>
      <p:sp>
        <p:nvSpPr>
          <p:cNvPr id="32" name="Text 26"/>
          <p:cNvSpPr txBox="1"/>
          <p:nvPr/>
        </p:nvSpPr>
        <p:spPr>
          <a:xfrm>
            <a:off x="7040880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33" name="Shape 27"/>
          <p:cNvSpPr/>
          <p:nvPr/>
        </p:nvSpPr>
        <p:spPr>
          <a:xfrm>
            <a:off x="7214616" y="1463040"/>
            <a:ext cx="1536192" cy="1554480"/>
          </a:xfrm>
          <a:prstGeom prst="roundRect">
            <a:avLst>
              <a:gd name="adj" fmla="val 357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1776" y="1600200"/>
            <a:ext cx="237744" cy="237744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653528" y="161848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STEP 5</a:t>
            </a:r>
            <a:endParaRPr lang="en-US" sz="800" dirty="0"/>
          </a:p>
        </p:txBody>
      </p:sp>
      <p:sp>
        <p:nvSpPr>
          <p:cNvPr id="36" name="Text 29"/>
          <p:cNvSpPr txBox="1"/>
          <p:nvPr/>
        </p:nvSpPr>
        <p:spPr>
          <a:xfrm>
            <a:off x="7351776" y="1938528"/>
            <a:ext cx="1261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판단</a:t>
            </a:r>
            <a:endParaRPr lang="en-US" sz="1100" dirty="0"/>
          </a:p>
        </p:txBody>
      </p:sp>
      <p:sp>
        <p:nvSpPr>
          <p:cNvPr id="37" name="Text 30"/>
          <p:cNvSpPr txBox="1"/>
          <p:nvPr/>
        </p:nvSpPr>
        <p:spPr>
          <a:xfrm>
            <a:off x="7351776" y="2212848"/>
            <a:ext cx="12618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15개 독립 평가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근거·심각도 포함</a:t>
            </a:r>
            <a:endParaRPr lang="en-US" sz="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체크리스트·면책 문구</a:t>
            </a:r>
            <a:endParaRPr lang="en-US" sz="800" dirty="0"/>
          </a:p>
        </p:txBody>
      </p:sp>
      <p:sp>
        <p:nvSpPr>
          <p:cNvPr id="38" name="Shape 31"/>
          <p:cNvSpPr/>
          <p:nvPr/>
        </p:nvSpPr>
        <p:spPr>
          <a:xfrm>
            <a:off x="411480" y="3246120"/>
            <a:ext cx="26517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401568"/>
            <a:ext cx="274320" cy="274320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978408" y="34015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비저장</a:t>
            </a:r>
            <a:endParaRPr lang="en-US" sz="1000" dirty="0"/>
          </a:p>
        </p:txBody>
      </p:sp>
      <p:sp>
        <p:nvSpPr>
          <p:cNvPr id="41" name="Text 33"/>
          <p:cNvSpPr txBox="1"/>
          <p:nvPr/>
        </p:nvSpPr>
        <p:spPr>
          <a:xfrm>
            <a:off x="978408" y="36576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파일은 메모리에서만 처리하고 분석이 끝나면 폐기</a:t>
            </a:r>
            <a:endParaRPr lang="en-US" sz="800" dirty="0"/>
          </a:p>
        </p:txBody>
      </p:sp>
      <p:sp>
        <p:nvSpPr>
          <p:cNvPr id="42" name="Shape 34"/>
          <p:cNvSpPr/>
          <p:nvPr/>
        </p:nvSpPr>
        <p:spPr>
          <a:xfrm>
            <a:off x="3218688" y="3246120"/>
            <a:ext cx="26517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3401568"/>
            <a:ext cx="274320" cy="274320"/>
          </a:xfrm>
          <a:prstGeom prst="rect">
            <a:avLst/>
          </a:prstGeom>
        </p:spPr>
      </p:pic>
      <p:sp>
        <p:nvSpPr>
          <p:cNvPr id="44" name="Text 35"/>
          <p:cNvSpPr txBox="1"/>
          <p:nvPr/>
        </p:nvSpPr>
        <p:spPr>
          <a:xfrm>
            <a:off x="3785616" y="34015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격리</a:t>
            </a:r>
            <a:endParaRPr lang="en-US" sz="1000" dirty="0"/>
          </a:p>
        </p:txBody>
      </p:sp>
      <p:sp>
        <p:nvSpPr>
          <p:cNvPr id="45" name="Text 36"/>
          <p:cNvSpPr txBox="1"/>
          <p:nvPr/>
        </p:nvSpPr>
        <p:spPr>
          <a:xfrm>
            <a:off x="3785616" y="36576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API가 실패해도 빈 값으로 대체 — 시세가 없어도 등기부 분석은 성공</a:t>
            </a:r>
            <a:endParaRPr lang="en-US" sz="800" dirty="0"/>
          </a:p>
        </p:txBody>
      </p:sp>
      <p:sp>
        <p:nvSpPr>
          <p:cNvPr id="46" name="Shape 37"/>
          <p:cNvSpPr/>
          <p:nvPr/>
        </p:nvSpPr>
        <p:spPr>
          <a:xfrm>
            <a:off x="6025896" y="3246120"/>
            <a:ext cx="26517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0488" y="3401568"/>
            <a:ext cx="274320" cy="274320"/>
          </a:xfrm>
          <a:prstGeom prst="rect">
            <a:avLst/>
          </a:prstGeom>
        </p:spPr>
      </p:pic>
      <p:sp>
        <p:nvSpPr>
          <p:cNvPr id="48" name="Text 38"/>
          <p:cNvSpPr txBox="1"/>
          <p:nvPr/>
        </p:nvSpPr>
        <p:spPr>
          <a:xfrm>
            <a:off x="6592824" y="340156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우선</a:t>
            </a:r>
            <a:endParaRPr lang="en-US" sz="1000" dirty="0"/>
          </a:p>
        </p:txBody>
      </p:sp>
      <p:sp>
        <p:nvSpPr>
          <p:cNvPr id="49" name="Text 39"/>
          <p:cNvSpPr txBox="1"/>
          <p:nvPr/>
        </p:nvSpPr>
        <p:spPr>
          <a:xfrm>
            <a:off x="6592824" y="3657600"/>
            <a:ext cx="1965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신호에 출처를 붙이고 법률 조언이 아님을 응답에 포함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구성 — 역할별 웹 · 앱 화면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47788" y="329184"/>
            <a:ext cx="128473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47788" y="329184"/>
            <a:ext cx="12847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22개 · 앱 25개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SYSTEM DESIGN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987552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115568"/>
            <a:ext cx="384048" cy="38404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197864"/>
            <a:ext cx="219456" cy="219456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9848" y="1115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069848" y="1335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분석부터 상담까지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594360" y="16916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분석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94360" y="1892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 · 분석 결과 · 체크리스트</a:t>
            </a:r>
            <a:endParaRPr lang="en-US" sz="800" dirty="0"/>
          </a:p>
        </p:txBody>
      </p:sp>
      <p:sp>
        <p:nvSpPr>
          <p:cNvPr id="14" name="Text 11"/>
          <p:cNvSpPr txBox="1"/>
          <p:nvPr/>
        </p:nvSpPr>
        <p:spPr>
          <a:xfrm>
            <a:off x="594360" y="220370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상담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594360" y="2404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문의 · 내 문의 내역 · 대화방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594360" y="2715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직접 선택</a:t>
            </a:r>
            <a:endParaRPr lang="en-US" sz="900" dirty="0"/>
          </a:p>
        </p:txBody>
      </p:sp>
      <p:sp>
        <p:nvSpPr>
          <p:cNvPr id="17" name="Text 14"/>
          <p:cNvSpPr txBox="1"/>
          <p:nvPr/>
        </p:nvSpPr>
        <p:spPr>
          <a:xfrm>
            <a:off x="594360" y="29169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변호사 목록 · 이용권 결제</a:t>
            </a:r>
            <a:endParaRPr lang="en-US" sz="800" dirty="0"/>
          </a:p>
        </p:txBody>
      </p:sp>
      <p:sp>
        <p:nvSpPr>
          <p:cNvPr id="18" name="Text 15"/>
          <p:cNvSpPr txBox="1"/>
          <p:nvPr/>
        </p:nvSpPr>
        <p:spPr>
          <a:xfrm>
            <a:off x="594360" y="32278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내역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94360" y="34290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바로 환불 · 환불 요청</a:t>
            </a:r>
            <a:endParaRPr lang="en-US" sz="800" dirty="0"/>
          </a:p>
        </p:txBody>
      </p:sp>
      <p:sp>
        <p:nvSpPr>
          <p:cNvPr id="20" name="Text 17"/>
          <p:cNvSpPr txBox="1"/>
          <p:nvPr/>
        </p:nvSpPr>
        <p:spPr>
          <a:xfrm>
            <a:off x="594360" y="37398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594360" y="3941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가입(이메일 인증) · 소셜 로그인 · 설정 · 탈퇴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3218688" y="987552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3383280" y="1115568"/>
            <a:ext cx="384048" cy="38404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576" y="1197864"/>
            <a:ext cx="219456" cy="219456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3877056" y="1115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3877056" y="1335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심사를 통과한 변호사만 이용</a:t>
            </a:r>
            <a:endParaRPr lang="en-US" sz="750" dirty="0"/>
          </a:p>
        </p:txBody>
      </p:sp>
      <p:sp>
        <p:nvSpPr>
          <p:cNvPr id="27" name="Text 23"/>
          <p:cNvSpPr txBox="1"/>
          <p:nvPr/>
        </p:nvSpPr>
        <p:spPr>
          <a:xfrm>
            <a:off x="3401568" y="16916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· 로그인</a:t>
            </a:r>
            <a:endParaRPr lang="en-US" sz="900" dirty="0"/>
          </a:p>
        </p:txBody>
      </p:sp>
      <p:sp>
        <p:nvSpPr>
          <p:cNvPr id="28" name="Text 24"/>
          <p:cNvSpPr txBox="1"/>
          <p:nvPr/>
        </p:nvSpPr>
        <p:spPr>
          <a:xfrm>
            <a:off x="3401568" y="1892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서류 제출 → 관리자 승인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3401568" y="220370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문의함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3401568" y="2404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배정된 상담 실시간 목록</a:t>
            </a:r>
            <a:endParaRPr lang="en-US" sz="800" dirty="0"/>
          </a:p>
        </p:txBody>
      </p:sp>
      <p:sp>
        <p:nvSpPr>
          <p:cNvPr id="31" name="Text 27"/>
          <p:cNvSpPr txBox="1"/>
          <p:nvPr/>
        </p:nvSpPr>
        <p:spPr>
          <a:xfrm>
            <a:off x="3401568" y="2715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대화방</a:t>
            </a:r>
            <a:endParaRPr lang="en-US" sz="900" dirty="0"/>
          </a:p>
        </p:txBody>
      </p:sp>
      <p:sp>
        <p:nvSpPr>
          <p:cNvPr id="32" name="Text 28"/>
          <p:cNvSpPr txBox="1"/>
          <p:nvPr/>
        </p:nvSpPr>
        <p:spPr>
          <a:xfrm>
            <a:off x="3401568" y="29169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채팅 · 신고 · 차단</a:t>
            </a:r>
            <a:endParaRPr lang="en-US" sz="800" dirty="0"/>
          </a:p>
        </p:txBody>
      </p:sp>
      <p:sp>
        <p:nvSpPr>
          <p:cNvPr id="33" name="Text 29"/>
          <p:cNvSpPr txBox="1"/>
          <p:nvPr/>
        </p:nvSpPr>
        <p:spPr>
          <a:xfrm>
            <a:off x="3401568" y="32278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메시지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3401568" y="34290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운영자와 1:1 소통 · 안 읽음 표시</a:t>
            </a:r>
            <a:endParaRPr lang="en-US" sz="800" dirty="0"/>
          </a:p>
        </p:txBody>
      </p:sp>
      <p:sp>
        <p:nvSpPr>
          <p:cNvPr id="35" name="Text 31"/>
          <p:cNvSpPr txBox="1"/>
          <p:nvPr/>
        </p:nvSpPr>
        <p:spPr>
          <a:xfrm>
            <a:off x="3401568" y="37398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</a:t>
            </a:r>
            <a:endParaRPr lang="en-US" sz="900" dirty="0"/>
          </a:p>
        </p:txBody>
      </p:sp>
      <p:sp>
        <p:nvSpPr>
          <p:cNvPr id="36" name="Text 32"/>
          <p:cNvSpPr txBox="1"/>
          <p:nvPr/>
        </p:nvSpPr>
        <p:spPr>
          <a:xfrm>
            <a:off x="3401568" y="3941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프로필 · 강점 · 알림 · 차단 관리</a:t>
            </a:r>
            <a:endParaRPr lang="en-US" sz="800" dirty="0"/>
          </a:p>
        </p:txBody>
      </p:sp>
      <p:sp>
        <p:nvSpPr>
          <p:cNvPr id="37" name="Shape 33"/>
          <p:cNvSpPr/>
          <p:nvPr/>
        </p:nvSpPr>
        <p:spPr>
          <a:xfrm>
            <a:off x="6025896" y="987552"/>
            <a:ext cx="2651760" cy="3310128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190488" y="1115568"/>
            <a:ext cx="384048" cy="384048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4" y="1197864"/>
            <a:ext cx="219456" cy="219456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6684264" y="1115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1" name="Text 36"/>
          <p:cNvSpPr txBox="1"/>
          <p:nvPr/>
        </p:nvSpPr>
        <p:spPr>
          <a:xfrm>
            <a:off x="6684264" y="1335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운영 콘솔</a:t>
            </a:r>
            <a:endParaRPr lang="en-US" sz="750" dirty="0"/>
          </a:p>
        </p:txBody>
      </p:sp>
      <p:sp>
        <p:nvSpPr>
          <p:cNvPr id="42" name="Text 37"/>
          <p:cNvSpPr txBox="1"/>
          <p:nvPr/>
        </p:nvSpPr>
        <p:spPr>
          <a:xfrm>
            <a:off x="6208776" y="1691640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심사</a:t>
            </a:r>
            <a:endParaRPr lang="en-US" sz="900" dirty="0"/>
          </a:p>
        </p:txBody>
      </p:sp>
      <p:sp>
        <p:nvSpPr>
          <p:cNvPr id="43" name="Text 38"/>
          <p:cNvSpPr txBox="1"/>
          <p:nvPr/>
        </p:nvSpPr>
        <p:spPr>
          <a:xfrm>
            <a:off x="6208776" y="18928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서류 확인 · 승인 · 거절 · 승인 취소</a:t>
            </a:r>
            <a:endParaRPr lang="en-US" sz="800" dirty="0"/>
          </a:p>
        </p:txBody>
      </p:sp>
      <p:sp>
        <p:nvSpPr>
          <p:cNvPr id="44" name="Text 39"/>
          <p:cNvSpPr txBox="1"/>
          <p:nvPr/>
        </p:nvSpPr>
        <p:spPr>
          <a:xfrm>
            <a:off x="6208776" y="220370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관리</a:t>
            </a:r>
            <a:endParaRPr lang="en-US" sz="900" dirty="0"/>
          </a:p>
        </p:txBody>
      </p:sp>
      <p:sp>
        <p:nvSpPr>
          <p:cNvPr id="45" name="Text 40"/>
          <p:cNvSpPr txBox="1"/>
          <p:nvPr/>
        </p:nvSpPr>
        <p:spPr>
          <a:xfrm>
            <a:off x="6208776" y="240487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원문 확인 · 이용 정지 · 기각</a:t>
            </a:r>
            <a:endParaRPr lang="en-US" sz="800" dirty="0"/>
          </a:p>
        </p:txBody>
      </p:sp>
      <p:sp>
        <p:nvSpPr>
          <p:cNvPr id="46" name="Text 41"/>
          <p:cNvSpPr txBox="1"/>
          <p:nvPr/>
        </p:nvSpPr>
        <p:spPr>
          <a:xfrm>
            <a:off x="6208776" y="2715768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회원 관리</a:t>
            </a:r>
            <a:endParaRPr lang="en-US" sz="900" dirty="0"/>
          </a:p>
        </p:txBody>
      </p:sp>
      <p:sp>
        <p:nvSpPr>
          <p:cNvPr id="47" name="Text 42"/>
          <p:cNvSpPr txBox="1"/>
          <p:nvPr/>
        </p:nvSpPr>
        <p:spPr>
          <a:xfrm>
            <a:off x="6208776" y="291693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· 20명 단위 페이지 · 정지 해제</a:t>
            </a:r>
            <a:endParaRPr lang="en-US" sz="800" dirty="0"/>
          </a:p>
        </p:txBody>
      </p:sp>
      <p:sp>
        <p:nvSpPr>
          <p:cNvPr id="48" name="Text 43"/>
          <p:cNvSpPr txBox="1"/>
          <p:nvPr/>
        </p:nvSpPr>
        <p:spPr>
          <a:xfrm>
            <a:off x="6208776" y="3227832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관리</a:t>
            </a:r>
            <a:endParaRPr lang="en-US" sz="900" dirty="0"/>
          </a:p>
        </p:txBody>
      </p:sp>
      <p:sp>
        <p:nvSpPr>
          <p:cNvPr id="49" name="Text 44"/>
          <p:cNvSpPr txBox="1"/>
          <p:nvPr/>
        </p:nvSpPr>
        <p:spPr>
          <a:xfrm>
            <a:off x="6208776" y="34290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승인 · 거절</a:t>
            </a:r>
            <a:endParaRPr lang="en-US" sz="800" dirty="0"/>
          </a:p>
        </p:txBody>
      </p:sp>
      <p:sp>
        <p:nvSpPr>
          <p:cNvPr id="50" name="Text 45"/>
          <p:cNvSpPr txBox="1"/>
          <p:nvPr/>
        </p:nvSpPr>
        <p:spPr>
          <a:xfrm>
            <a:off x="6208776" y="3739896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메시지</a:t>
            </a:r>
            <a:endParaRPr lang="en-US" sz="900" dirty="0"/>
          </a:p>
        </p:txBody>
      </p:sp>
      <p:sp>
        <p:nvSpPr>
          <p:cNvPr id="51" name="Text 46"/>
          <p:cNvSpPr txBox="1"/>
          <p:nvPr/>
        </p:nvSpPr>
        <p:spPr>
          <a:xfrm>
            <a:off x="6208776" y="394106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→ 변호사 1:1 안내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411480" y="443484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548640" y="443484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기능을 웹(Next.js)과 앱(Flutter)에서 같은 API로 제공 — 앱은 카메라 촬영 업로드 · FCM 푸시 추가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기능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 판독 · 위험 판단 · 공공데이터 · 상담과 결제 · 운영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자동 판독 — PDF와 촬영 이미지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281928" y="329184"/>
            <a:ext cx="245059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81928" y="329184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PDFBox · Google Cloud Vision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0332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6928" y="132588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PDF 원본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154533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인터넷등기소 발급</a:t>
            </a:r>
            <a:endParaRPr lang="en-US" sz="700" dirty="0"/>
          </a:p>
        </p:txBody>
      </p:sp>
      <p:sp>
        <p:nvSpPr>
          <p:cNvPr id="11" name="Text 9"/>
          <p:cNvSpPr txBox="1"/>
          <p:nvPr/>
        </p:nvSpPr>
        <p:spPr>
          <a:xfrm>
            <a:off x="1856232" y="14173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029968" y="12344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139696" y="132588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Apache PDFBox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2139696" y="154533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Identity-H 한글 정상 추출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429000" y="14173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3602736" y="123444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12464" y="132588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RegistryParser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712464" y="154533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갑구·을구 섹션 인식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말소 항목 매칭</a:t>
            </a:r>
            <a:endParaRPr lang="en-US" sz="7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13055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IMAGE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57200" y="233172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24231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이미지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264261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장 순서대로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1856232" y="25146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2029968" y="233172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139696" y="24231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 OCR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2139696" y="264261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DOCUMENT_TEXT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3429000" y="251460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3602736" y="2331720"/>
            <a:ext cx="1417320" cy="658368"/>
          </a:xfrm>
          <a:prstGeom prst="roundRect">
            <a:avLst>
              <a:gd name="adj" fmla="val 8333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712464" y="24231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정규화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3712464" y="2642616"/>
            <a:ext cx="1261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병합 · 헤더 보정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스캔 보완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457200" y="3291840"/>
            <a:ext cx="1417320" cy="777240"/>
          </a:xfrm>
          <a:prstGeom prst="roundRect">
            <a:avLst>
              <a:gd name="adj" fmla="val 705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66928" y="33649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표제부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3584448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· 고유번호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종류 판별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2029968" y="3291840"/>
            <a:ext cx="1417320" cy="777240"/>
          </a:xfrm>
          <a:prstGeom prst="roundRect">
            <a:avLst>
              <a:gd name="adj" fmla="val 705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139696" y="33649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갑구 · 소유권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2139696" y="3584448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소유자 이력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압류 · 가압류 · 경매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602736" y="3291840"/>
            <a:ext cx="1417320" cy="777240"/>
          </a:xfrm>
          <a:prstGeom prst="roundRect">
            <a:avLst>
              <a:gd name="adj" fmla="val 705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712464" y="33649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을구 · 소유권 외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3712464" y="3584448"/>
            <a:ext cx="12618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 채권최고액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근저당권자 · 말소 여부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257800" y="1051560"/>
            <a:ext cx="3474720" cy="3017520"/>
          </a:xfrm>
          <a:prstGeom prst="roundRect">
            <a:avLst>
              <a:gd name="adj" fmla="val 1818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13248" y="114300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파싱 결과 (RegistryAnalysis · 가상 데이터)</a:t>
            </a:r>
            <a:endParaRPr lang="en-US" sz="700" dirty="0"/>
          </a:p>
        </p:txBody>
      </p:sp>
      <p:sp>
        <p:nvSpPr>
          <p:cNvPr id="42" name="Text 40"/>
          <p:cNvSpPr txBox="1"/>
          <p:nvPr/>
        </p:nvSpPr>
        <p:spPr>
          <a:xfrm>
            <a:off x="5413248" y="1371600"/>
            <a:ext cx="32461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"registryKind": "COLLECTIVE_BUILDING",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"ownershipHistory": [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"rank": 1, "ownerName": "김○○",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"cancelled": false } ],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"mortgages": [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"rank": 1, "maxClaimAmount": 240000000,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"mortgageeName": "○○농협",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"cancelled": true },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 "rank": 2, "maxClaimAmount": 156000000,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"mortgageeName": "○○은행",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"cancelled": false } ],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"seizures": [],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"totalActiveMortgageAmount": 156000000</a:t>
            </a:r>
            <a:endParaRPr lang="en-US" sz="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70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00" dirty="0"/>
          </a:p>
        </p:txBody>
      </p:sp>
      <p:sp>
        <p:nvSpPr>
          <p:cNvPr id="43" name="Text 41"/>
          <p:cNvSpPr txBox="1"/>
          <p:nvPr/>
        </p:nvSpPr>
        <p:spPr>
          <a:xfrm>
            <a:off x="411480" y="4315968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말소된 근저당은 합계에서 제외 → 실제 선순위 채권만 계산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 판단 규칙 엔진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281928" y="329184"/>
            <a:ext cx="245059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81928" y="329184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Strategy Pattern · Spring DI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206240" cy="3063240"/>
          </a:xfrm>
          <a:prstGeom prst="roundRect">
            <a:avLst>
              <a:gd name="adj" fmla="val 1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1143000"/>
            <a:ext cx="39776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interface RiskRule {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Optional&lt;RiskSignal&gt; evaluate(RiskAssessmentInput in);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@Service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class RiskAssessmentService {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// @Component 규칙 15개가 자동 주입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private final List&lt;RiskRule&gt; rules;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public RiskAssessmentResult assess(RiskAssessmentInput in) {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new RiskAssessmentResult(rules.stream()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.map(rule -&gt; rule.evaluate(in))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.flatMap(Optional::stream)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.toList());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}</a:t>
            </a:r>
            <a:endParaRPr lang="en-US" sz="7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E4E4E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4892040" y="1024128"/>
            <a:ext cx="3840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추가 = 클래스 하나 추가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892040" y="1298448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 코드를 고치지 않고 규칙만 늘리는 구조(OCP). 각 규칙은 입력만 받아 독립적으로 평가하므로 규칙별 단위 테스트가 쉬움.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1920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유형 3단계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92040" y="2212848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2128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확인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5687568" y="2212848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등기부·건축물대장 기록 그대로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892040" y="2542032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92040" y="2542032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기준</a:t>
            </a:r>
            <a:endParaRPr lang="en-US" sz="750" dirty="0"/>
          </a:p>
        </p:txBody>
      </p:sp>
      <p:sp>
        <p:nvSpPr>
          <p:cNvPr id="17" name="Text 15"/>
          <p:cNvSpPr txBox="1"/>
          <p:nvPr/>
        </p:nvSpPr>
        <p:spPr>
          <a:xfrm>
            <a:off x="5687568" y="2542032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주택임대차보호법 시행령 등 법령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892040" y="2871216"/>
            <a:ext cx="685800" cy="219456"/>
          </a:xfrm>
          <a:prstGeom prst="roundRect">
            <a:avLst>
              <a:gd name="adj" fmla="val 20833"/>
            </a:avLst>
          </a:prstGeom>
          <a:solidFill>
            <a:srgbClr val="71717A"/>
          </a:solidFill>
          <a:ln w="12700">
            <a:solidFill>
              <a:srgbClr val="71717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2871216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권고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5687568" y="2871216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HUG·국토부 기준, 구속력 없음 명시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4892040" y="329184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심각도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92040" y="356616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92040" y="356616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위험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6062472" y="356616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062472" y="356616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CAUTION 주의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7232904" y="356616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F4F4F5"/>
          </a:solidFill>
          <a:ln w="12700">
            <a:solidFill>
              <a:srgbClr val="F4F4F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32904" y="3566160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7171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INFO 안내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429768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RiskSignal(code, title, severity, source, sourceDescription, detail) — 카드 1장 = 신호 1개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판단 기준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370064" y="329184"/>
            <a:ext cx="1362456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70064" y="329184"/>
            <a:ext cx="1362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· 출처를 함께 표시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09651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161288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71717A"/>
          </a:solidFill>
          <a:ln w="12700">
            <a:solidFill>
              <a:srgbClr val="71717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76072" y="11612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권고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11430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선순위 채권 비율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11612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/ CAUTION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576072" y="1481328"/>
            <a:ext cx="3767328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7512" y="1481328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(활성 근저당 + 보증금) ÷ 시세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 이상 위험 · 70% 이상 주의 — 말소된 근저당은 제외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36008" y="1005840"/>
            <a:ext cx="409651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800600" y="1161288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71717A"/>
          </a:solidFill>
          <a:ln w="12700">
            <a:solidFill>
              <a:srgbClr val="7171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1161288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정부 권고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5550408" y="11430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전세가율 · 월세 환산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562088" y="11612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/ CAUTION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4800600" y="1481328"/>
            <a:ext cx="3767328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92040" y="1481328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보증금 + 월세 × 12 ÷ 전환율 5%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818888" y="1920240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대비 90% 이상 위험 · 80% 이상 주의 (주임법 시행령 제9조 전환율)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11480" y="2542032"/>
            <a:ext cx="409651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" y="2697480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18181B"/>
          </a:solidFill>
          <a:ln w="12700">
            <a:solidFill>
              <a:srgbClr val="1818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76072" y="269748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사실 확인</a:t>
            </a:r>
            <a:endParaRPr lang="en-US" sz="700" dirty="0"/>
          </a:p>
        </p:txBody>
      </p:sp>
      <p:sp>
        <p:nvSpPr>
          <p:cNvPr id="26" name="Text 24"/>
          <p:cNvSpPr txBox="1"/>
          <p:nvPr/>
        </p:nvSpPr>
        <p:spPr>
          <a:xfrm>
            <a:off x="1325880" y="26791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권리 침해 기록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337560" y="269748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HIGH / CAUTION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76072" y="3017520"/>
            <a:ext cx="3767328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67512" y="301752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미말소 압류·가압류·경매 / 소유자 ≠ 임대인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594360" y="34564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없이 기록 그대로 위험 표시 — 주소 불일치는 오탐을 고려해 주의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636008" y="2542032"/>
            <a:ext cx="4096512" cy="1389888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800600" y="2697480"/>
            <a:ext cx="658368" cy="201168"/>
          </a:xfrm>
          <a:prstGeom prst="roundRect">
            <a:avLst>
              <a:gd name="adj" fmla="val 2272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00600" y="2697480"/>
            <a:ext cx="6583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법적 기준</a:t>
            </a:r>
            <a:endParaRPr lang="en-US" sz="700" dirty="0"/>
          </a:p>
        </p:txBody>
      </p:sp>
      <p:sp>
        <p:nvSpPr>
          <p:cNvPr id="34" name="Text 32"/>
          <p:cNvSpPr txBox="1"/>
          <p:nvPr/>
        </p:nvSpPr>
        <p:spPr>
          <a:xfrm>
            <a:off x="5550408" y="267919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소액임차인 최우선변제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562088" y="269748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INFO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4800600" y="3017520"/>
            <a:ext cx="3767328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FF7E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892040" y="3017520"/>
            <a:ext cx="3611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보증금 ≤ 지역별 상한 → 우선 변제 대상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4818888" y="3456432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 1.65억 이하 시 5,500만 원까지 (주임법 시행령 제10~11조)</a:t>
            </a:r>
            <a:endParaRPr lang="en-US" sz="800" dirty="0"/>
          </a:p>
        </p:txBody>
      </p:sp>
      <p:sp>
        <p:nvSpPr>
          <p:cNvPr id="39" name="Text 37"/>
          <p:cNvSpPr txBox="1"/>
          <p:nvPr/>
        </p:nvSpPr>
        <p:spPr>
          <a:xfrm>
            <a:off x="411480" y="42245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외 근린생활시설 원룸 · 위반건축물 · 부동산 유형 불일치 · 토지 등기부 · 다가구 전용 규칙까지 총 15개 규칙, 위험 신호 17종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공공데이터 연동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748272" y="329184"/>
            <a:ext cx="1984248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48272" y="329184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RestClient · 공공 API 5종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11480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입력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11480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도로명주소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1920240" y="12618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112264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12264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juso.go.kr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112264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법정동코드 admCd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621024" y="12618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813048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813048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LAWD_CD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813048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admCd 앞 5자리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5321808" y="12618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513832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513832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실거래가 API ×3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513832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아파트·오피스텔·연립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7022592" y="12618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7214616" y="1005840"/>
            <a:ext cx="1517904" cy="777240"/>
          </a:xfrm>
          <a:prstGeom prst="roundRect">
            <a:avLst>
              <a:gd name="adj" fmla="val 7059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14616" y="1115568"/>
            <a:ext cx="15179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매칭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214616" y="1371600"/>
            <a:ext cx="1517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단지명 + 면적 ±3㎡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11480" y="2011680"/>
            <a:ext cx="2651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2176272"/>
            <a:ext cx="274320" cy="274320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960120" y="21945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AbstractTradeClient 공통화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576072" y="2606040"/>
            <a:ext cx="2359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API는 응답 구조가 같고 건물명 필드만 다름 (aptNm · offiNm · mhouseNm). 호출 로직을 추상 클래스로 묶고 각 클라이언트는 엔드포인트와 필드명만 정의.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3218688" y="2011680"/>
            <a:ext cx="2651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2176272"/>
            <a:ext cx="274320" cy="274320"/>
          </a:xfrm>
          <a:prstGeom prst="rect">
            <a:avLst/>
          </a:prstGeom>
        </p:spPr>
      </p:pic>
      <p:sp>
        <p:nvSpPr>
          <p:cNvPr id="32" name="Text 28"/>
          <p:cNvSpPr txBox="1"/>
          <p:nvPr/>
        </p:nvSpPr>
        <p:spPr>
          <a:xfrm>
            <a:off x="3767328" y="21945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건축물대장 층별 용도</a:t>
            </a:r>
            <a:endParaRPr lang="en-US" sz="1000" dirty="0"/>
          </a:p>
        </p:txBody>
      </p:sp>
      <p:sp>
        <p:nvSpPr>
          <p:cNvPr id="33" name="Text 29"/>
          <p:cNvSpPr txBox="1"/>
          <p:nvPr/>
        </p:nvSpPr>
        <p:spPr>
          <a:xfrm>
            <a:off x="3383280" y="2606040"/>
            <a:ext cx="2359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건축HUB 표제부 + 층별개요 조회. 이름이 아닌 용도 코드(03·04 = 근린생활시설)로 판별해 상가를 개조한 '근생 원룸'을 감지.</a:t>
            </a:r>
            <a:endParaRPr lang="en-US" sz="800" dirty="0"/>
          </a:p>
        </p:txBody>
      </p:sp>
      <p:sp>
        <p:nvSpPr>
          <p:cNvPr id="34" name="Shape 30"/>
          <p:cNvSpPr/>
          <p:nvPr/>
        </p:nvSpPr>
        <p:spPr>
          <a:xfrm>
            <a:off x="6025896" y="2011680"/>
            <a:ext cx="265176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2176272"/>
            <a:ext cx="274320" cy="274320"/>
          </a:xfrm>
          <a:prstGeom prst="rect">
            <a:avLst/>
          </a:prstGeom>
        </p:spPr>
      </p:pic>
      <p:sp>
        <p:nvSpPr>
          <p:cNvPr id="36" name="Text 31"/>
          <p:cNvSpPr txBox="1"/>
          <p:nvPr/>
        </p:nvSpPr>
        <p:spPr>
          <a:xfrm>
            <a:off x="6574536" y="2194560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공시가격 기준값</a:t>
            </a:r>
            <a:endParaRPr lang="en-US" sz="1000" dirty="0"/>
          </a:p>
        </p:txBody>
      </p:sp>
      <p:sp>
        <p:nvSpPr>
          <p:cNvPr id="37" name="Text 32"/>
          <p:cNvSpPr txBox="1"/>
          <p:nvPr/>
        </p:nvSpPr>
        <p:spPr>
          <a:xfrm>
            <a:off x="6190488" y="2606040"/>
            <a:ext cx="23591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브이월드 개별주택가격을 PNU(법정동 10 + 대지구분 1 + 본번 4 + 부번 4)로 조회. 시세를 알 수 없는 다가구의 보수적 기준으로 사용.</a:t>
            </a:r>
            <a:endParaRPr lang="en-US" sz="800" dirty="0"/>
          </a:p>
        </p:txBody>
      </p:sp>
      <p:sp>
        <p:nvSpPr>
          <p:cNvPr id="38" name="Shape 33"/>
          <p:cNvSpPr/>
          <p:nvPr/>
        </p:nvSpPr>
        <p:spPr>
          <a:xfrm>
            <a:off x="411480" y="4133088"/>
            <a:ext cx="8321040" cy="365760"/>
          </a:xfrm>
          <a:prstGeom prst="roundRect">
            <a:avLst>
              <a:gd name="adj" fmla="val 15000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548640" y="413308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장애 격리  </a:t>
            </a:r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RestClientException → 빈 값으로 대체 — 부가 조회가 실패해도 등기부 분석은 항상 성공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원룸 · 다가구 조건부 분석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292340" y="329184"/>
            <a:ext cx="144018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292340" y="329184"/>
            <a:ext cx="14401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입력 + 보수적 계산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5156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등기부만으로 알 수 없는 집은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'안전' 판정을 내리지 않습니다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30352" y="2011680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192024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다가구는 건물 전체에 등기부가 하나 — 먼저 들어온 세입자 보증금이 등기부에 없음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514600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242316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선순위 보증금을 사용자가 입력하고, 확인 출처(서류 / 임대인 말 / 모름)도 함께 받음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0352" y="3017520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13232" y="29260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서류로 확인하지 않았다면 계산 결과와 상관없이 위험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30352" y="3520440"/>
            <a:ext cx="64008" cy="6400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3429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건물·토지 공동담보는 접수일·채권최고액·근저당권자가 같으면 한 번만 계산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120640" y="1005840"/>
            <a:ext cx="3611880" cy="3017520"/>
          </a:xfrm>
          <a:prstGeom prst="roundRect">
            <a:avLst>
              <a:gd name="adj" fmla="val 1818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03520" y="11155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다가구 선순위 비율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5303520" y="1371600"/>
            <a:ext cx="3291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근저당 (건물 + 토지에만 있는 것)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먼저 들어온 세입자 보증금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소액임차인 최우선변제 추정액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내 보증금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03520" y="2487168"/>
            <a:ext cx="3246120" cy="0"/>
          </a:xfrm>
          <a:prstGeom prst="line">
            <a:avLst/>
          </a:prstGeom>
          <a:noFill/>
          <a:ln w="9525">
            <a:solidFill>
              <a:srgbClr val="3F3F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303520" y="256032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÷ 기준 가격 (입력 시세, 없으면 공시가격)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303520" y="297180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03520" y="2971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80%↑ 위험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400800" y="297180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0800" y="2971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70%↑ 주의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7498080" y="2971800"/>
            <a:ext cx="1005840" cy="256032"/>
          </a:xfrm>
          <a:prstGeom prst="roundRect">
            <a:avLst>
              <a:gd name="adj" fmla="val 50000"/>
            </a:avLst>
          </a:prstGeom>
          <a:solidFill>
            <a:srgbClr val="52525B"/>
          </a:solidFill>
          <a:ln w="12700">
            <a:solidFill>
              <a:srgbClr val="52525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498080" y="2971800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외 조건부 주의</a:t>
            </a:r>
            <a:endParaRPr lang="en-US" sz="750" dirty="0"/>
          </a:p>
        </p:txBody>
      </p:sp>
      <p:sp>
        <p:nvSpPr>
          <p:cNvPr id="27" name="Text 25"/>
          <p:cNvSpPr txBox="1"/>
          <p:nvPr/>
        </p:nvSpPr>
        <p:spPr>
          <a:xfrm>
            <a:off x="5303520" y="3383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HUG 반환보증 가입 가능성도 추정 — 공시가격 × 140%, 근저당 60% · 선순위 80% · 전체 90% 기준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상담 · 실시간 채팅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437376" y="329184"/>
            <a:ext cx="2295144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37376" y="329184"/>
            <a:ext cx="2295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· Web Push · FCM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126187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1078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가입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1316736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서류 제출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(파일 시그니처 검사)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1655064" y="12984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810512" y="1005840"/>
            <a:ext cx="126187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901952" y="1078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승인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1901952" y="1316736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PENDING → APPROVED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3054096" y="12984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209544" y="1005840"/>
            <a:ext cx="126187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300984" y="1078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300984" y="1316736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랜덤 /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유료 직접 선택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4453128" y="129844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608576" y="1005840"/>
            <a:ext cx="1261872" cy="86868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00016" y="10789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1:1 채팅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700016" y="1316736"/>
            <a:ext cx="11155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실시간 대화 · 신고 · 차단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6035040" y="1005840"/>
            <a:ext cx="2697480" cy="2103120"/>
          </a:xfrm>
          <a:prstGeom prst="roundRect">
            <a:avLst>
              <a:gd name="adj" fmla="val 2609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99632" y="1115568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메시지가 상대 화면에 표시되기까지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6199632" y="13716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4.5초 → 0.3초</a:t>
            </a:r>
            <a:endParaRPr lang="en-US" sz="2500" dirty="0"/>
          </a:p>
        </p:txBody>
      </p:sp>
      <p:sp>
        <p:nvSpPr>
          <p:cNvPr id="25" name="Text 23"/>
          <p:cNvSpPr txBox="1"/>
          <p:nvPr/>
        </p:nvSpPr>
        <p:spPr>
          <a:xfrm>
            <a:off x="6199632" y="1938528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5초 폴링 → WebSocket 전환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199632" y="2212848"/>
            <a:ext cx="2423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메시지 전송은 HTTP 그대로 두고, 저장 시 이벤트를 발행해 같은 대화방에 연결된 화면으로 즉시 전달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411480" y="2011680"/>
            <a:ext cx="5468112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66928" y="21031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인증 — 1회용 입장권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6928" y="2395728"/>
            <a:ext cx="1170432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" y="243230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263347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접근 불가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1892808" y="2395728"/>
            <a:ext cx="1170432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1892808" y="243230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서버</a:t>
            </a:r>
            <a:endParaRPr lang="en-US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1892808" y="263347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httpOnly 쿠키 인증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3218688" y="2395728"/>
            <a:ext cx="1170432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3218688" y="243230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3218688" y="263347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60초 1회용 티켓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4544568" y="2395728"/>
            <a:ext cx="1170432" cy="502920"/>
          </a:xfrm>
          <a:prstGeom prst="roundRect">
            <a:avLst>
              <a:gd name="adj" fmla="val 1090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544568" y="2432304"/>
            <a:ext cx="11704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wss 연결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4544568" y="2633472"/>
            <a:ext cx="1170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티켓으로만 입장</a:t>
            </a:r>
            <a:endParaRPr lang="en-US" sz="700" dirty="0"/>
          </a:p>
        </p:txBody>
      </p:sp>
      <p:sp>
        <p:nvSpPr>
          <p:cNvPr id="41" name="Text 39"/>
          <p:cNvSpPr txBox="1"/>
          <p:nvPr/>
        </p:nvSpPr>
        <p:spPr>
          <a:xfrm>
            <a:off x="566928" y="2926080"/>
            <a:ext cx="5212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Origin 제한 · 끊기면 지수 백오프로 재연결 · 30초 주기 조회를 안전망으로 유지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411480" y="32918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3438144"/>
            <a:ext cx="256032" cy="256032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941832" y="343814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· 이용 정지</a:t>
            </a:r>
            <a:endParaRPr lang="en-US" sz="1000" dirty="0"/>
          </a:p>
        </p:txBody>
      </p:sp>
      <p:sp>
        <p:nvSpPr>
          <p:cNvPr id="45" name="Text 42"/>
          <p:cNvSpPr txBox="1"/>
          <p:nvPr/>
        </p:nvSpPr>
        <p:spPr>
          <a:xfrm>
            <a:off x="576072" y="37673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사유 2가지(욕설·모욕 / 금전 요구)만 접수, 정지 시 기존 세션까지 즉시 무효</a:t>
            </a:r>
            <a:endParaRPr lang="en-US" sz="780" dirty="0"/>
          </a:p>
        </p:txBody>
      </p:sp>
      <p:sp>
        <p:nvSpPr>
          <p:cNvPr id="46" name="Shape 43"/>
          <p:cNvSpPr/>
          <p:nvPr/>
        </p:nvSpPr>
        <p:spPr>
          <a:xfrm>
            <a:off x="3218688" y="32918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3438144"/>
            <a:ext cx="256032" cy="256032"/>
          </a:xfrm>
          <a:prstGeom prst="rect">
            <a:avLst/>
          </a:prstGeom>
        </p:spPr>
      </p:pic>
      <p:sp>
        <p:nvSpPr>
          <p:cNvPr id="48" name="Text 44"/>
          <p:cNvSpPr txBox="1"/>
          <p:nvPr/>
        </p:nvSpPr>
        <p:spPr>
          <a:xfrm>
            <a:off x="3749040" y="343814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차단</a:t>
            </a:r>
            <a:endParaRPr lang="en-US" sz="1000" dirty="0"/>
          </a:p>
        </p:txBody>
      </p:sp>
      <p:sp>
        <p:nvSpPr>
          <p:cNvPr id="49" name="Text 45"/>
          <p:cNvSpPr txBox="1"/>
          <p:nvPr/>
        </p:nvSpPr>
        <p:spPr>
          <a:xfrm>
            <a:off x="3383280" y="37673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 관계면 양쪽 모두 메시지 불가, 매칭·목록에서도 서로 제외</a:t>
            </a:r>
            <a:endParaRPr lang="en-US" sz="780" dirty="0"/>
          </a:p>
        </p:txBody>
      </p:sp>
      <p:sp>
        <p:nvSpPr>
          <p:cNvPr id="50" name="Shape 46"/>
          <p:cNvSpPr/>
          <p:nvPr/>
        </p:nvSpPr>
        <p:spPr>
          <a:xfrm>
            <a:off x="6025896" y="329184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0488" y="3438144"/>
            <a:ext cx="256032" cy="256032"/>
          </a:xfrm>
          <a:prstGeom prst="rect">
            <a:avLst/>
          </a:prstGeom>
        </p:spPr>
      </p:pic>
      <p:sp>
        <p:nvSpPr>
          <p:cNvPr id="52" name="Text 47"/>
          <p:cNvSpPr txBox="1"/>
          <p:nvPr/>
        </p:nvSpPr>
        <p:spPr>
          <a:xfrm>
            <a:off x="6556248" y="3438144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알림 3채널</a:t>
            </a:r>
            <a:endParaRPr lang="en-US" sz="1000" dirty="0"/>
          </a:p>
        </p:txBody>
      </p:sp>
      <p:sp>
        <p:nvSpPr>
          <p:cNvPr id="53" name="Text 48"/>
          <p:cNvSpPr txBox="1"/>
          <p:nvPr/>
        </p:nvSpPr>
        <p:spPr>
          <a:xfrm>
            <a:off x="6190488" y="37673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· 웹 푸시(VAPID) · 앱 푸시(FCM), 발송이 실패해도 상담은 성공</a:t>
            </a:r>
            <a:endParaRPr lang="en-US" sz="78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— 금액은 항상 서버가 결정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47788" y="329184"/>
            <a:ext cx="128473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47788" y="329184"/>
            <a:ext cx="12847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9496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539496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생성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39496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서버가 상품별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 결정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1920240" y="14630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112264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240280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2240280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결제창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240280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결제 진행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3621024" y="14630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3813048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941064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800" dirty="0"/>
          </a:p>
        </p:txBody>
      </p:sp>
      <p:sp>
        <p:nvSpPr>
          <p:cNvPr id="19" name="Text 17"/>
          <p:cNvSpPr txBox="1"/>
          <p:nvPr/>
        </p:nvSpPr>
        <p:spPr>
          <a:xfrm>
            <a:off x="3941064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금액 검증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941064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돌아온 금액 ≠ 주문 금액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4C4C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승인 요청 안 함</a:t>
            </a:r>
            <a:endParaRPr lang="en-US" sz="750" dirty="0"/>
          </a:p>
        </p:txBody>
      </p:sp>
      <p:sp>
        <p:nvSpPr>
          <p:cNvPr id="21" name="Text 19"/>
          <p:cNvSpPr txBox="1"/>
          <p:nvPr/>
        </p:nvSpPr>
        <p:spPr>
          <a:xfrm>
            <a:off x="5321808" y="14630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5513832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641848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800" dirty="0"/>
          </a:p>
        </p:txBody>
      </p:sp>
      <p:sp>
        <p:nvSpPr>
          <p:cNvPr id="24" name="Text 22"/>
          <p:cNvSpPr txBox="1"/>
          <p:nvPr/>
        </p:nvSpPr>
        <p:spPr>
          <a:xfrm>
            <a:off x="5641848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승인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41848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Idempotency-Key = 주문번호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 초과·5xx는 결과 불확실</a:t>
            </a:r>
            <a:endParaRPr lang="en-US" sz="750" dirty="0"/>
          </a:p>
        </p:txBody>
      </p:sp>
      <p:sp>
        <p:nvSpPr>
          <p:cNvPr id="26" name="Text 24"/>
          <p:cNvSpPr txBox="1"/>
          <p:nvPr/>
        </p:nvSpPr>
        <p:spPr>
          <a:xfrm>
            <a:off x="7022592" y="146304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›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7214616" y="1005840"/>
            <a:ext cx="151790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42632" y="1097280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800" dirty="0"/>
          </a:p>
        </p:txBody>
      </p:sp>
      <p:sp>
        <p:nvSpPr>
          <p:cNvPr id="29" name="Text 27"/>
          <p:cNvSpPr txBox="1"/>
          <p:nvPr/>
        </p:nvSpPr>
        <p:spPr>
          <a:xfrm>
            <a:off x="7342632" y="1298448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이용권 사용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342632" y="1572768"/>
            <a:ext cx="1325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시작 시 선점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실패하면 환원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4096512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542032"/>
            <a:ext cx="256032" cy="256032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960120" y="255117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상품 구조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612648" y="29718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분석</a:t>
            </a:r>
            <a:endParaRPr lang="en-US" sz="850" dirty="0"/>
          </a:p>
        </p:txBody>
      </p:sp>
      <p:sp>
        <p:nvSpPr>
          <p:cNvPr id="35" name="Text 32"/>
          <p:cNvSpPr txBox="1"/>
          <p:nvPr/>
        </p:nvSpPr>
        <p:spPr>
          <a:xfrm>
            <a:off x="1874520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아이디당 무료 5회 → 이후 990원 / 회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12648" y="341071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직접 선택</a:t>
            </a:r>
            <a:endParaRPr lang="en-US" sz="850" dirty="0"/>
          </a:p>
        </p:txBody>
      </p:sp>
      <p:sp>
        <p:nvSpPr>
          <p:cNvPr id="37" name="Text 34"/>
          <p:cNvSpPr txBox="1"/>
          <p:nvPr/>
        </p:nvSpPr>
        <p:spPr>
          <a:xfrm>
            <a:off x="1874520" y="341071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2,900원 / 회 · 강점 프로필 비교</a:t>
            </a:r>
            <a:endParaRPr lang="en-US" sz="850" dirty="0"/>
          </a:p>
        </p:txBody>
      </p:sp>
      <p:sp>
        <p:nvSpPr>
          <p:cNvPr id="38" name="Text 35"/>
          <p:cNvSpPr txBox="1"/>
          <p:nvPr/>
        </p:nvSpPr>
        <p:spPr>
          <a:xfrm>
            <a:off x="612648" y="384962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무료 횟수 기준</a:t>
            </a:r>
            <a:endParaRPr lang="en-US" sz="850" dirty="0"/>
          </a:p>
        </p:txBody>
      </p:sp>
      <p:sp>
        <p:nvSpPr>
          <p:cNvPr id="39" name="Text 36"/>
          <p:cNvSpPr txBox="1"/>
          <p:nvPr/>
        </p:nvSpPr>
        <p:spPr>
          <a:xfrm>
            <a:off x="1874520" y="384962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해시 — 재가입해도 유지, 실패 시 환원</a:t>
            </a:r>
            <a:endParaRPr lang="en-US" sz="850" dirty="0"/>
          </a:p>
        </p:txBody>
      </p:sp>
      <p:sp>
        <p:nvSpPr>
          <p:cNvPr id="40" name="Shape 37"/>
          <p:cNvSpPr/>
          <p:nvPr/>
        </p:nvSpPr>
        <p:spPr>
          <a:xfrm>
            <a:off x="4636008" y="2395728"/>
            <a:ext cx="4096512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542032"/>
            <a:ext cx="256032" cy="256032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184648" y="255117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· 환불</a:t>
            </a:r>
            <a:endParaRPr lang="en-US" sz="1100" dirty="0"/>
          </a:p>
        </p:txBody>
      </p:sp>
      <p:sp>
        <p:nvSpPr>
          <p:cNvPr id="43" name="Text 39"/>
          <p:cNvSpPr txBox="1"/>
          <p:nvPr/>
        </p:nvSpPr>
        <p:spPr>
          <a:xfrm>
            <a:off x="4837176" y="297180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미사용 이용권</a:t>
            </a:r>
            <a:endParaRPr lang="en-US" sz="850" dirty="0"/>
          </a:p>
        </p:txBody>
      </p:sp>
      <p:sp>
        <p:nvSpPr>
          <p:cNvPr id="44" name="Text 40"/>
          <p:cNvSpPr txBox="1"/>
          <p:nvPr/>
        </p:nvSpPr>
        <p:spPr>
          <a:xfrm>
            <a:off x="6099048" y="297180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취소 API로 바로 환불</a:t>
            </a:r>
            <a:endParaRPr lang="en-US" sz="850" dirty="0"/>
          </a:p>
        </p:txBody>
      </p:sp>
      <p:sp>
        <p:nvSpPr>
          <p:cNvPr id="45" name="Text 41"/>
          <p:cNvSpPr txBox="1"/>
          <p:nvPr/>
        </p:nvSpPr>
        <p:spPr>
          <a:xfrm>
            <a:off x="4837176" y="341071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사용한 이용권</a:t>
            </a:r>
            <a:endParaRPr lang="en-US" sz="850" dirty="0"/>
          </a:p>
        </p:txBody>
      </p:sp>
      <p:sp>
        <p:nvSpPr>
          <p:cNvPr id="46" name="Text 42"/>
          <p:cNvSpPr txBox="1"/>
          <p:nvPr/>
        </p:nvSpPr>
        <p:spPr>
          <a:xfrm>
            <a:off x="6099048" y="3410712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 → 관리자 승인 후 취소</a:t>
            </a:r>
            <a:endParaRPr lang="en-US" sz="850" dirty="0"/>
          </a:p>
        </p:txBody>
      </p:sp>
      <p:sp>
        <p:nvSpPr>
          <p:cNvPr id="47" name="Text 43"/>
          <p:cNvSpPr txBox="1"/>
          <p:nvPr/>
        </p:nvSpPr>
        <p:spPr>
          <a:xfrm>
            <a:off x="4837176" y="384962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제어</a:t>
            </a:r>
            <a:endParaRPr lang="en-US" sz="850" dirty="0"/>
          </a:p>
        </p:txBody>
      </p:sp>
      <p:sp>
        <p:nvSpPr>
          <p:cNvPr id="48" name="Text 44"/>
          <p:cNvSpPr txBox="1"/>
          <p:nvPr/>
        </p:nvSpPr>
        <p:spPr>
          <a:xfrm>
            <a:off x="6099048" y="384962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주문 비관적 잠금 · 이용권 선점으로 중복 사용 차단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인증과 보안 설계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059168" y="329184"/>
            <a:ext cx="1673352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59168" y="329184"/>
            <a:ext cx="1673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개인정보를 다루는 서비스의 기본기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17043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252728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51560" y="1225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토큰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166420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불투명 랜덤 토큰, DB엔 SHA-256 해시만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로그아웃·정지 시 즉시 무효화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서버 규모라 JWT 대신 선택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3218688" y="100584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83280" y="117043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65576" y="1252728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858768" y="1225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계정 보호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3401568" y="166420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BCrypt 해시 · 5회 오류 시 잠금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가입 이메일 6자리 인증 · 대소문자 통일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재설정 토큰은 SHA-256 해시만 저장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6025896" y="100584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190488" y="117043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784" y="1252728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665976" y="12252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소셜 로그인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6208776" y="166420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state nonce로 CSRF 방지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이메일 인증된 계정만 연동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경로 리다이렉트 차단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411480" y="269748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76072" y="286207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944368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51560" y="2916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로그인 PKCE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594360" y="33558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앱은 verifier, 웹엔 challenge만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2분 · 1회용 코드로 토큰 교환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스킴 가로채기 대응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3218688" y="269748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3383280" y="286207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5576" y="2944368"/>
            <a:ext cx="201168" cy="20116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3858768" y="2916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개인정보 · 파일</a:t>
            </a:r>
            <a:endParaRPr lang="en-US" sz="1050" dirty="0"/>
          </a:p>
        </p:txBody>
      </p:sp>
      <p:sp>
        <p:nvSpPr>
          <p:cNvPr id="31" name="Text 24"/>
          <p:cNvSpPr txBox="1"/>
          <p:nvPr/>
        </p:nvSpPr>
        <p:spPr>
          <a:xfrm>
            <a:off x="3401568" y="33558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원본 디스크 비저장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서류는 파일 시그니처 검사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API 키는 .env로 분리</a:t>
            </a:r>
            <a:endParaRPr lang="en-US" sz="800" dirty="0"/>
          </a:p>
        </p:txBody>
      </p:sp>
      <p:sp>
        <p:nvSpPr>
          <p:cNvPr id="32" name="Shape 25"/>
          <p:cNvSpPr/>
          <p:nvPr/>
        </p:nvSpPr>
        <p:spPr>
          <a:xfrm>
            <a:off x="6025896" y="2697480"/>
            <a:ext cx="2651760" cy="155448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6190488" y="2862072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72784" y="2944368"/>
            <a:ext cx="201168" cy="20116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6665976" y="291693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보안</a:t>
            </a:r>
            <a:endParaRPr lang="en-US" sz="1050" dirty="0"/>
          </a:p>
        </p:txBody>
      </p:sp>
      <p:sp>
        <p:nvSpPr>
          <p:cNvPr id="36" name="Text 28"/>
          <p:cNvSpPr txBox="1"/>
          <p:nvPr/>
        </p:nvSpPr>
        <p:spPr>
          <a:xfrm>
            <a:off x="6208776" y="3355848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보안 헤더 · secure 쿠키 · H2 콘솔 차단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보안 패치, 운영 의존성 audit 0건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환경변수 유입 차단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· 관리자 기능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214616" y="329184"/>
            <a:ext cx="1517904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214616" y="329184"/>
            <a:ext cx="1517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서비스를 위한 운영 장치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98755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6072" y="115214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234440"/>
            <a:ext cx="201168" cy="201168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069848" y="11338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심사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069848" y="138988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자격 서류(PDF·JPG) 확인 후 승인 · 거절. 승인 취소 시 승인 대기로 되돌리고 로그인 세션 즉시 종료, 매칭 목록에서 제외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4636008" y="98755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800600" y="115214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1234440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294376" y="113385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· 이용 정지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5294376" y="138988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 원문을 보고 정지 또는 기각. 정지 즉시 세션 차단, 정지된 변호사는 매칭에서 제외</a:t>
            </a:r>
            <a:endParaRPr lang="en-US" sz="800" dirty="0"/>
          </a:p>
        </p:txBody>
      </p:sp>
      <p:sp>
        <p:nvSpPr>
          <p:cNvPr id="17" name="Shape 13"/>
          <p:cNvSpPr/>
          <p:nvPr/>
        </p:nvSpPr>
        <p:spPr>
          <a:xfrm>
            <a:off x="411480" y="208483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76072" y="224942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331720"/>
            <a:ext cx="201168" cy="201168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69848" y="22311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→ 변호사 1:1 메시지</a:t>
            </a:r>
            <a:endParaRPr lang="en-US" sz="1050" dirty="0"/>
          </a:p>
        </p:txBody>
      </p:sp>
      <p:sp>
        <p:nvSpPr>
          <p:cNvPr id="21" name="Text 16"/>
          <p:cNvSpPr txBox="1"/>
          <p:nvPr/>
        </p:nvSpPr>
        <p:spPr>
          <a:xfrm>
            <a:off x="1069848" y="248716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안내를 변호사 알림함으로 전달 — 안 읽음 뱃지와 앱 푸시까지 웹·앱 공통</a:t>
            </a:r>
            <a:endParaRPr lang="en-US" sz="800" dirty="0"/>
          </a:p>
        </p:txBody>
      </p:sp>
      <p:sp>
        <p:nvSpPr>
          <p:cNvPr id="22" name="Shape 17"/>
          <p:cNvSpPr/>
          <p:nvPr/>
        </p:nvSpPr>
        <p:spPr>
          <a:xfrm>
            <a:off x="4636008" y="208483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4800600" y="224942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2896" y="2331720"/>
            <a:ext cx="201168" cy="201168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5294376" y="22311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관리</a:t>
            </a:r>
            <a:endParaRPr lang="en-US" sz="1050" dirty="0"/>
          </a:p>
        </p:txBody>
      </p:sp>
      <p:sp>
        <p:nvSpPr>
          <p:cNvPr id="26" name="Text 20"/>
          <p:cNvSpPr txBox="1"/>
          <p:nvPr/>
        </p:nvSpPr>
        <p:spPr>
          <a:xfrm>
            <a:off x="5294376" y="248716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사용한 이용권 환불 요청을 관리자가 승인 · 거절. 회원·변호사 목록은 20명 단위 서버 검색</a:t>
            </a:r>
            <a:endParaRPr lang="en-US" sz="800" dirty="0"/>
          </a:p>
        </p:txBody>
      </p:sp>
      <p:sp>
        <p:nvSpPr>
          <p:cNvPr id="27" name="Shape 21"/>
          <p:cNvSpPr/>
          <p:nvPr/>
        </p:nvSpPr>
        <p:spPr>
          <a:xfrm>
            <a:off x="411480" y="318211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576072" y="334670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429000"/>
            <a:ext cx="201168" cy="201168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069848" y="332841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남용 방지</a:t>
            </a:r>
            <a:endParaRPr lang="en-US" sz="1050" dirty="0"/>
          </a:p>
        </p:txBody>
      </p:sp>
      <p:sp>
        <p:nvSpPr>
          <p:cNvPr id="31" name="Text 24"/>
          <p:cNvSpPr txBox="1"/>
          <p:nvPr/>
        </p:nvSpPr>
        <p:spPr>
          <a:xfrm>
            <a:off x="1069848" y="358444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분석 시도 하루 20회 · 업로드 5장/PDF 30쪽 · 상담 메시지 2000자 · 인증번호 10분·5회 · 비밀번호 5회 오류 잠금</a:t>
            </a:r>
            <a:endParaRPr lang="en-US" sz="800" dirty="0"/>
          </a:p>
        </p:txBody>
      </p:sp>
      <p:sp>
        <p:nvSpPr>
          <p:cNvPr id="32" name="Shape 25"/>
          <p:cNvSpPr/>
          <p:nvPr/>
        </p:nvSpPr>
        <p:spPr>
          <a:xfrm>
            <a:off x="4636008" y="3182112"/>
            <a:ext cx="4096512" cy="978408"/>
          </a:xfrm>
          <a:prstGeom prst="roundRect">
            <a:avLst>
              <a:gd name="adj" fmla="val 560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4800600" y="3346704"/>
            <a:ext cx="365760" cy="365760"/>
          </a:xfrm>
          <a:prstGeom prst="ellipse">
            <a:avLst/>
          </a:prstGeom>
          <a:solidFill>
            <a:srgbClr val="FFF7ED"/>
          </a:solidFill>
          <a:ln w="12700">
            <a:solidFill>
              <a:srgbClr val="FFF7ED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82896" y="3429000"/>
            <a:ext cx="201168" cy="201168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5294376" y="332841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정리</a:t>
            </a:r>
            <a:endParaRPr lang="en-US" sz="1050" dirty="0"/>
          </a:p>
        </p:txBody>
      </p:sp>
      <p:sp>
        <p:nvSpPr>
          <p:cNvPr id="36" name="Text 28"/>
          <p:cNvSpPr txBox="1"/>
          <p:nvPr/>
        </p:nvSpPr>
        <p:spPr>
          <a:xfrm>
            <a:off x="5294376" y="3584448"/>
            <a:ext cx="33101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매일 새벽 4시 만료된 세션·인증 기록 정리 — 누적 무료 횟수는 지우지 않도록 테스트로 고정</a:t>
            </a:r>
            <a:endParaRPr lang="en-US" sz="800" dirty="0"/>
          </a:p>
        </p:txBody>
      </p:sp>
      <p:sp>
        <p:nvSpPr>
          <p:cNvPr id="37" name="Text 29"/>
          <p:cNvSpPr txBox="1"/>
          <p:nvPr/>
        </p:nvSpPr>
        <p:spPr>
          <a:xfrm>
            <a:off x="411480" y="434340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콘솔은 웹 /admin과 앱 하단 탭 콘솔에서 같은 API로 동작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웹과 앱 — 하나의 API, 두 개의 클라이언트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903720" y="329184"/>
            <a:ext cx="182880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03720" y="32918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Next.js 16 · Flutter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CORE FEATURE</a:t>
            </a:r>
            <a:endParaRPr lang="en-US" sz="6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005840"/>
          <a:ext cx="83210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429000"/>
                <a:gridCol w="3429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· Next.js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App · Flutter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181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인증 보관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httpOnly 쿠키 + Server Action 프록시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Secure Storage + Bearer 토큰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소셜 로그인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Route Handler에서 OAuth 처리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웹 로그인 재사용 (Custom Tabs) + PKCE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실시간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WebSocket 1회용 입장권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입장권 방식 공유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Web Push (VAPID · Service Worker)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FCM (HTTP v1 직접 호출)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서류 업로드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 선택 · 여러 장 업로드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카메라 촬영 · 갤러리 · 파일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토스 결제창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앱 안 WebView로 토스 결제창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A580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관리자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/admin 4개 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8181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하단 탭 관리자 콘솔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109728" marR="109728" marT="36576" marB="36576" anchor="ctr">
                    <a:lnL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11480" y="4224528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화면만 다르고 분석 · 인증 · 결제 로직은 Spring 서버에서 공통 처리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트러블슈팅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OCR 표 인식, 조용한 설정 실패, 환경변수 오염, DB 스키마, 결제 결과 불확실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촬영 이미지에서 등기부 항목이 비어 나옴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592824" y="329184"/>
            <a:ext cx="2139696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92824" y="329184"/>
            <a:ext cx="2139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Cloud Vision · 파서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4페이지를 촬영 이미지로 올리면 갑구·을구 항목이 빈 배열로 반환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Vision OCR은 표를 셀 단위로 쪼갬 — 【갑 구】 헤더가 여러 줄로 나뉘고, 순위번호와 등기목적이 다른 줄로 분리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부제(소유권에 관한 사항)를 보조 헤더로 사용, 순위번호 단독 줄 병합, 채무자·근저당권자 전체 스캔 보완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문서의 PDF 결과와 동일하게 추출 — OCR 전용 정규화라 PDF 경로 회귀 없음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엔진별 출력 차이를 파서 앞 정규화 단계에서 흡수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기반 규칙이 한 번도 발동하지 않음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748272" y="329184"/>
            <a:ext cx="1984248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48272" y="329184"/>
            <a:ext cx="1984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 Boot 4 · dotenv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시세 조회가 항상 null — 예외도 로그도 없어 테스트 DB에 데이터가 없는 줄로 오인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spring-dotenv 4.0.0의 리스너가 Spring Boot 4에서 호출되지 않아 모든 API 키가 빈 문자열로 주입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dotenv-java로 main()에서 .env를 직접 읽어 System 프로퍼티로 등록 (Environment 최우선 순위)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시세(5.3억 원) 조회 확인, 선순위 채권·전세가율 규칙 정상 동작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에러 없는 실패는 초기화 로그와 jar 단독 실행으로 원인을 좁혀 해결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상담 등록 API가 매번 3–5초 지연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52360" y="329184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52360" y="32918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환경변수 격리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변호사 상담 문의 등록 요청이 매번 3–5초씩 걸림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OS 환경변수에 남아 있던 다른 프로젝트의 메일 계정을 설정 기본값 문법이 그대로 읽어 실제 SMTP 인증을 시도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 키는 .env 파일에 명시된 값만 허용, 없으면 빈 값으로 강제 — 웹 프론트에도 같은 원칙 적용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70ms대로 단축, 소셜 로그인이 다른 앱으로 연결되던 문제도 같은 방식으로 해결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설정의 출처를 하나로 고정해 개발 PC 환경에 따라 동작이 바뀌지 않게 함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관리자 결제 관리 탭 500 오류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7452360" y="329184"/>
            <a:ext cx="128016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452360" y="32918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JPA · H2 스키마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환불 요청 · 결제 취소 탭이 조회만 해도 500 오류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H2가 @Enumerated 컬럼을 생성 당시 값의 ENUM 타입으로 고정 — 나중에 추가한 REFUNDED 등을 거부. 테스트는 매번 새 DB라 놓침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 컬럼 9개를 varchar(30)으로 정의, ddl-auto가 기존 DB 타입을 변환하는 것을 복사본 DB로 확인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EnumColumnTypeTest로 ENUM 타입 컬럼이 생기면 테스트 실패 — 재발 방지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테스트와 개발 DB의 차이를 확인하고, 같은 실수를 테스트로 고정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 승인 결과를 알 수 없을 때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981444" y="329184"/>
            <a:ext cx="1751076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81444" y="329184"/>
            <a:ext cx="17510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Toss Payments · 멱등키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TROUBLESHOOTING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76072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76072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승인 요청이 시간 초과·5xx로 끝나면 돈이 빠져나갔을 수 있는데, 주문을 FAILED로 굳혀 재시도가 막힘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32888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697480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2697480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거절이 확실한 응답(4xx)과 결과를 알 수 없는 응답을 구분하지 않고 모든 오류를 실패로 처리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654296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818888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18888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4xx만 실패, 나머지는 결과 불확실로 주문을 READY 유지 — 같은 주문으로 재승인(멱등키), '이미 처리됨' 응답은 결제 조회로 상태·주문번호·금액 확인 후 성공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775704" y="1097280"/>
            <a:ext cx="1965960" cy="23317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940296" y="1261872"/>
            <a:ext cx="1691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940296" y="1600200"/>
            <a:ext cx="1655064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결제 없이 재시도 가능, 토스 테스트 키로 오류·조회 응답 형식 확인 — 이용권도 시작 시 선점·실패 시 환원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1480" y="3703320"/>
            <a:ext cx="8321040" cy="347472"/>
          </a:xfrm>
          <a:prstGeom prst="roundRect">
            <a:avLst>
              <a:gd name="adj" fmla="val 15789"/>
            </a:avLst>
          </a:prstGeom>
          <a:solidFill>
            <a:srgbClr val="FFF7ED"/>
          </a:solidFill>
          <a:ln w="9525">
            <a:solidFill>
              <a:srgbClr val="FED7A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03320"/>
            <a:ext cx="8046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돈이 오가는 흐름은 '실패'와 '모름'을 구분해 설계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783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1031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평가와 배포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72491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A1A1A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성과, 배포 준비 현황, 다음 단계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548640" y="3154680"/>
            <a:ext cx="411480" cy="457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5A5A6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프로젝트 평가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411480" y="1005840"/>
            <a:ext cx="83210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11480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1명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411480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풀스택 개발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2075688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24일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2075688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기간</a:t>
            </a:r>
            <a:endParaRPr lang="en-US" sz="750" dirty="0"/>
          </a:p>
        </p:txBody>
      </p:sp>
      <p:sp>
        <p:nvSpPr>
          <p:cNvPr id="10" name="Text 8"/>
          <p:cNvSpPr txBox="1"/>
          <p:nvPr/>
        </p:nvSpPr>
        <p:spPr>
          <a:xfrm>
            <a:off x="3739896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2.8만 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3739896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작성한 코드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5404104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328개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5404104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자동화 테스트</a:t>
            </a:r>
            <a:endParaRPr lang="en-US" sz="750" dirty="0"/>
          </a:p>
        </p:txBody>
      </p:sp>
      <p:sp>
        <p:nvSpPr>
          <p:cNvPr id="14" name="Text 12"/>
          <p:cNvSpPr txBox="1"/>
          <p:nvPr/>
        </p:nvSpPr>
        <p:spPr>
          <a:xfrm>
            <a:off x="7068312" y="1078992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54건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7068312" y="1481328"/>
            <a:ext cx="16642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기록한 설계 결정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05740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2057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등기부 판독부터 위험 신호, 변호사 상담, 결제, 관리자 운영까지 웹·앱으로 이어지는 서비스를 혼자 완성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48640" y="251460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260604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기술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1371600" y="2606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엔진(15개) · 공공 API 5종 연동 · WebSocket · PKCE · 토스 결제를 직접 설계하고 테스트 328개 · CI로 검증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306324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154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31546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 없이 단정하지 않기 — 모든 신호에 출처를 달고, 확인할 수 없는 집은 '안전' 판정을 보류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48640" y="361188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48640" y="370332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1371600" y="37033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도구(Claude Code)로 구현 속도를 높이고, 설계 결정 · 원인 분석 · 검증은 직접 — 결정 54건을 문서로 남김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" y="4160520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준비 현황</a:t>
            </a:r>
            <a:endParaRPr lang="en-US" sz="2100" dirty="0"/>
          </a:p>
        </p:txBody>
      </p:sp>
      <p:sp>
        <p:nvSpPr>
          <p:cNvPr id="4" name="Shape 2"/>
          <p:cNvSpPr/>
          <p:nvPr/>
        </p:nvSpPr>
        <p:spPr>
          <a:xfrm>
            <a:off x="6515100" y="329184"/>
            <a:ext cx="2217420" cy="219456"/>
          </a:xfrm>
          <a:prstGeom prst="roundRect">
            <a:avLst>
              <a:gd name="adj" fmla="val 50000"/>
            </a:avLst>
          </a:prstGeom>
          <a:solidFill>
            <a:srgbClr val="FFEDD5"/>
          </a:solidFill>
          <a:ln w="6350">
            <a:solidFill>
              <a:srgbClr val="FFEDD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15100" y="329184"/>
            <a:ext cx="22174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EA580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10.15 개발 완료 · 10.16 배포 시작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650" dirty="0"/>
          </a:p>
        </p:txBody>
      </p:sp>
      <p:sp>
        <p:nvSpPr>
          <p:cNvPr id="7" name="Shape 5"/>
          <p:cNvSpPr/>
          <p:nvPr/>
        </p:nvSpPr>
        <p:spPr>
          <a:xfrm>
            <a:off x="411480" y="1005840"/>
            <a:ext cx="406908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170432"/>
            <a:ext cx="256032" cy="256032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941832" y="11704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준비된 것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621792" y="1572768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1572768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DB 드라이버(PostgreSQL) 포함, DB 주소·DDL 설정을 환경변수로 분리 (운영은 validate)</a:t>
            </a:r>
            <a:endParaRPr lang="en-US" sz="830" dirty="0"/>
          </a:p>
        </p:txBody>
      </p:sp>
      <p:sp>
        <p:nvSpPr>
          <p:cNvPr id="12" name="Text 9"/>
          <p:cNvSpPr txBox="1"/>
          <p:nvPr/>
        </p:nvSpPr>
        <p:spPr>
          <a:xfrm>
            <a:off x="621792" y="2103120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2103120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환경에서 secure 쿠키 · 보안 헤더 · H2 콘솔 차단</a:t>
            </a:r>
            <a:endParaRPr lang="en-US" sz="830" dirty="0"/>
          </a:p>
        </p:txBody>
      </p:sp>
      <p:sp>
        <p:nvSpPr>
          <p:cNvPr id="14" name="Text 11"/>
          <p:cNvSpPr txBox="1"/>
          <p:nvPr/>
        </p:nvSpPr>
        <p:spPr>
          <a:xfrm>
            <a:off x="621792" y="2633472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41248" y="2633472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WebSocket 허용 Origin과 메일 링크 주소를 FRONTEND_ORIGIN 한 곳에서 관리</a:t>
            </a:r>
            <a:endParaRPr lang="en-US" sz="830" dirty="0"/>
          </a:p>
        </p:txBody>
      </p:sp>
      <p:sp>
        <p:nvSpPr>
          <p:cNvPr id="16" name="Text 13"/>
          <p:cNvSpPr txBox="1"/>
          <p:nvPr/>
        </p:nvSpPr>
        <p:spPr>
          <a:xfrm>
            <a:off x="621792" y="3163824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841248" y="3163824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외부 키를 .env로 분리, 키가 없으면 해당 조회만 건너뛰고 분석은 동작</a:t>
            </a:r>
            <a:endParaRPr lang="en-US" sz="830" dirty="0"/>
          </a:p>
        </p:txBody>
      </p:sp>
      <p:sp>
        <p:nvSpPr>
          <p:cNvPr id="18" name="Text 15"/>
          <p:cNvSpPr txBox="1"/>
          <p:nvPr/>
        </p:nvSpPr>
        <p:spPr>
          <a:xfrm>
            <a:off x="621792" y="3694176"/>
            <a:ext cx="182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3694176"/>
            <a:ext cx="3520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 Actions CI — 백엔드 테스트 · 웹 lint·타입·빌드·audit · 앱 analyze·test 자동 실행 (테스트 328개)</a:t>
            </a:r>
            <a:endParaRPr lang="en-US" sz="830" dirty="0"/>
          </a:p>
        </p:txBody>
      </p:sp>
      <p:sp>
        <p:nvSpPr>
          <p:cNvPr id="20" name="Shape 17"/>
          <p:cNvSpPr/>
          <p:nvPr/>
        </p:nvSpPr>
        <p:spPr>
          <a:xfrm>
            <a:off x="4663440" y="1005840"/>
            <a:ext cx="4069080" cy="3291840"/>
          </a:xfrm>
          <a:prstGeom prst="roundRect">
            <a:avLst>
              <a:gd name="adj" fmla="val 1667"/>
            </a:avLst>
          </a:prstGeom>
          <a:solidFill>
            <a:srgbClr val="18181A"/>
          </a:solidFill>
          <a:ln w="9525">
            <a:solidFill>
              <a:srgbClr val="18181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170432"/>
            <a:ext cx="256032" cy="256032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5193792" y="1170432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배포할 때 할 일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4846320" y="1591056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846320" y="1591056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</a:t>
            </a:r>
            <a:endParaRPr lang="en-US" sz="750" dirty="0"/>
          </a:p>
        </p:txBody>
      </p:sp>
      <p:sp>
        <p:nvSpPr>
          <p:cNvPr id="25" name="Text 21"/>
          <p:cNvSpPr txBox="1"/>
          <p:nvPr/>
        </p:nvSpPr>
        <p:spPr>
          <a:xfrm>
            <a:off x="5468112" y="1572768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웹 Vercel · 백엔드 Render/Fly.io · DB PostgreSQL</a:t>
            </a:r>
            <a:endParaRPr lang="en-US" sz="830" dirty="0"/>
          </a:p>
        </p:txBody>
      </p:sp>
      <p:sp>
        <p:nvSpPr>
          <p:cNvPr id="26" name="Shape 22"/>
          <p:cNvSpPr/>
          <p:nvPr/>
        </p:nvSpPr>
        <p:spPr>
          <a:xfrm>
            <a:off x="4846320" y="2121408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46320" y="2121408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</a:t>
            </a:r>
            <a:endParaRPr lang="en-US" sz="750" dirty="0"/>
          </a:p>
        </p:txBody>
      </p:sp>
      <p:sp>
        <p:nvSpPr>
          <p:cNvPr id="28" name="Text 24"/>
          <p:cNvSpPr txBox="1"/>
          <p:nvPr/>
        </p:nvSpPr>
        <p:spPr>
          <a:xfrm>
            <a:off x="5468112" y="2103120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Flyway 마이그레이션 도입 후 DDL_AUTO=validate</a:t>
            </a:r>
            <a:endParaRPr lang="en-US" sz="830" dirty="0"/>
          </a:p>
        </p:txBody>
      </p:sp>
      <p:sp>
        <p:nvSpPr>
          <p:cNvPr id="29" name="Shape 25"/>
          <p:cNvSpPr/>
          <p:nvPr/>
        </p:nvSpPr>
        <p:spPr>
          <a:xfrm>
            <a:off x="4846320" y="2651760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4846320" y="26517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en-US" sz="750" dirty="0"/>
          </a:p>
        </p:txBody>
      </p:sp>
      <p:sp>
        <p:nvSpPr>
          <p:cNvPr id="31" name="Text 27"/>
          <p:cNvSpPr txBox="1"/>
          <p:nvPr/>
        </p:nvSpPr>
        <p:spPr>
          <a:xfrm>
            <a:off x="5468112" y="2633472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FRONTEND_ORIGIN · OAuth 리다이렉트 URI · 브이월드 도메인 · wss 교체</a:t>
            </a:r>
            <a:endParaRPr lang="en-US" sz="830" dirty="0"/>
          </a:p>
        </p:txBody>
      </p:sp>
      <p:sp>
        <p:nvSpPr>
          <p:cNvPr id="32" name="Shape 28"/>
          <p:cNvSpPr/>
          <p:nvPr/>
        </p:nvSpPr>
        <p:spPr>
          <a:xfrm>
            <a:off x="4846320" y="3182112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46320" y="3182112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키</a:t>
            </a:r>
            <a:endParaRPr lang="en-US" sz="750" dirty="0"/>
          </a:p>
        </p:txBody>
      </p:sp>
      <p:sp>
        <p:nvSpPr>
          <p:cNvPr id="34" name="Text 30"/>
          <p:cNvSpPr txBox="1"/>
          <p:nvPr/>
        </p:nvSpPr>
        <p:spPr>
          <a:xfrm>
            <a:off x="5468112" y="3163824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토스 라이브 키 · FCM · VAPID · 메일 계정 등록</a:t>
            </a:r>
            <a:endParaRPr lang="en-US" sz="830" dirty="0"/>
          </a:p>
        </p:txBody>
      </p:sp>
      <p:sp>
        <p:nvSpPr>
          <p:cNvPr id="35" name="Shape 31"/>
          <p:cNvSpPr/>
          <p:nvPr/>
        </p:nvSpPr>
        <p:spPr>
          <a:xfrm>
            <a:off x="4846320" y="3712464"/>
            <a:ext cx="502920" cy="219456"/>
          </a:xfrm>
          <a:prstGeom prst="roundRect">
            <a:avLst>
              <a:gd name="adj" fmla="val 20833"/>
            </a:avLst>
          </a:prstGeom>
          <a:solidFill>
            <a:srgbClr val="232326"/>
          </a:solidFill>
          <a:ln w="6350">
            <a:solidFill>
              <a:srgbClr val="3F3F46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4846320" y="3712464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750" dirty="0"/>
          </a:p>
        </p:txBody>
      </p:sp>
      <p:sp>
        <p:nvSpPr>
          <p:cNvPr id="37" name="Text 33"/>
          <p:cNvSpPr txBox="1"/>
          <p:nvPr/>
        </p:nvSpPr>
        <p:spPr>
          <a:xfrm>
            <a:off x="5468112" y="3694176"/>
            <a:ext cx="3154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30" dirty="0">
                <a:solidFill>
                  <a:srgbClr val="D4D4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결제창을 거친 재승인 응답 · 실기기 푸시 검증, 화면 캡처</a:t>
            </a:r>
            <a:endParaRPr lang="en-US" sz="830" dirty="0"/>
          </a:p>
        </p:txBody>
      </p:sp>
      <p:sp>
        <p:nvSpPr>
          <p:cNvPr id="38" name="Text 34"/>
          <p:cNvSpPr txBox="1"/>
          <p:nvPr/>
        </p:nvSpPr>
        <p:spPr>
          <a:xfrm>
            <a:off x="411480" y="44348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코드는 완성 — 남은 것은 운영 환경 값과 인프라 구성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37744"/>
            <a:ext cx="45720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7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38404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개선 과제</a:t>
            </a:r>
            <a:endParaRPr lang="en-US" sz="21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482803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spc="100" kern="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RETROSPECTIVE</a:t>
            </a:r>
            <a:endParaRPr lang="en-US" sz="6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14300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배포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017520" y="11430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 후 모니터링 · 오류 알림 구성, 실제 화면 캡처를 포트폴리오에 반영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170992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92024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19202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기준표 DB화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017520" y="19202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상수로 관리 중인 위험 기준(RiskThresholds)을 DB 기준표로 옮겨 기준금리 · HUG 기준 변경에 대응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48716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69748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69748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출시 준비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017520" y="26974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iOS 푸시 실기기 검증, 다가구 · 토지 등기부 실제 샘플로 파서 추가 검증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8640" y="326440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74720"/>
            <a:ext cx="548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47472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1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법률 검토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017520" y="347472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25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면책 문구와 등급 체계, 유료 변호사 매칭 구조(변호사법 제34조)를 공개 전 전문가 검토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4041648"/>
            <a:ext cx="8138160" cy="0"/>
          </a:xfrm>
          <a:prstGeom prst="line">
            <a:avLst/>
          </a:prstGeom>
          <a:noFill/>
          <a:ln w="9525">
            <a:solidFill>
              <a:srgbClr val="E4E4E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8A8A93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0" y="640080"/>
            <a:ext cx="3840480" cy="384048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</a:t>
            </a:r>
            <a:pPr indent="0" marL="0">
              <a:buNone/>
            </a:pPr>
            <a:r>
              <a:rPr lang="en-US" sz="1200" b="1" spc="100" kern="0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GUARD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01168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697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Questions &amp; Answers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526280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8A8A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임채은   ·   github.com/chean0830/guard-project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58200" y="4828032"/>
            <a:ext cx="36576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5A5A60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Guard 포트폴리오</dc:title>
  <dc:subject>PptxGenJS Presentation</dc:subject>
  <dc:creator>임채은</dc:creator>
  <cp:lastModifiedBy>임채은</cp:lastModifiedBy>
  <cp:revision>1</cp:revision>
  <dcterms:created xsi:type="dcterms:W3CDTF">2026-10-15T07:30:01Z</dcterms:created>
  <dcterms:modified xsi:type="dcterms:W3CDTF">2026-10-15T07:30:01Z</dcterms:modified>
</cp:coreProperties>
</file>